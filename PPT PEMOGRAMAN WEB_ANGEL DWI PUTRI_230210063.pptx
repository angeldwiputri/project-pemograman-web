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8288000" cy="10287000"/>
  <p:notesSz cx="6858000" cy="9144000"/>
  <p:embeddedFontLst>
    <p:embeddedFont>
      <p:font typeface="Art Nuvo" panose="020B0604020202020204" charset="0"/>
      <p:regular r:id="rId15"/>
    </p:embeddedFont>
    <p:embeddedFont>
      <p:font typeface="Calibri" panose="020F0502020204030204" pitchFamily="34" charset="0"/>
      <p:regular r:id="rId16"/>
      <p:bold r:id="rId17"/>
      <p:italic r:id="rId18"/>
      <p:boldItalic r:id="rId19"/>
    </p:embeddedFont>
    <p:embeddedFont>
      <p:font typeface="Jet" panose="020B0604020202020204" charset="-78"/>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3728705" y="1982131"/>
            <a:ext cx="10830590" cy="6463308"/>
          </a:xfrm>
          <a:prstGeom prst="rect">
            <a:avLst/>
          </a:prstGeom>
        </p:spPr>
        <p:txBody>
          <a:bodyPr lIns="0" tIns="0" rIns="0" bIns="0" rtlCol="0" anchor="t">
            <a:spAutoFit/>
          </a:bodyPr>
          <a:lstStyle/>
          <a:p>
            <a:pPr algn="ctr">
              <a:lnSpc>
                <a:spcPts val="8445"/>
              </a:lnSpc>
            </a:pPr>
            <a:r>
              <a:rPr lang="en-US" sz="10826" dirty="0">
                <a:solidFill>
                  <a:srgbClr val="916542"/>
                </a:solidFill>
                <a:latin typeface="Art Nuvo"/>
                <a:ea typeface="Art Nuvo"/>
                <a:cs typeface="Art Nuvo"/>
                <a:sym typeface="Art Nuvo"/>
              </a:rPr>
              <a:t>WEBSITE BOOKING WEDDING DECORATION </a:t>
            </a:r>
            <a:endParaRPr lang="en-US" sz="10826" dirty="0" smtClean="0">
              <a:solidFill>
                <a:srgbClr val="916542"/>
              </a:solidFill>
              <a:latin typeface="Art Nuvo"/>
              <a:ea typeface="Art Nuvo"/>
              <a:cs typeface="Art Nuvo"/>
              <a:sym typeface="Art Nuvo"/>
            </a:endParaRPr>
          </a:p>
          <a:p>
            <a:pPr algn="ctr">
              <a:lnSpc>
                <a:spcPts val="8445"/>
              </a:lnSpc>
            </a:pPr>
            <a:endParaRPr lang="en-US" sz="10826" dirty="0">
              <a:solidFill>
                <a:srgbClr val="916542"/>
              </a:solidFill>
              <a:latin typeface="Art Nuvo"/>
              <a:ea typeface="Art Nuvo"/>
              <a:cs typeface="Art Nuvo"/>
              <a:sym typeface="Art Nuvo"/>
            </a:endParaRPr>
          </a:p>
          <a:p>
            <a:pPr algn="ctr">
              <a:lnSpc>
                <a:spcPts val="8445"/>
              </a:lnSpc>
            </a:pPr>
            <a:endParaRPr lang="en-US" sz="10826" dirty="0" smtClean="0">
              <a:solidFill>
                <a:srgbClr val="916542"/>
              </a:solidFill>
              <a:latin typeface="Art Nuvo"/>
              <a:ea typeface="Art Nuvo"/>
              <a:cs typeface="Art Nuvo"/>
              <a:sym typeface="Art Nuvo"/>
            </a:endParaRPr>
          </a:p>
          <a:p>
            <a:pPr algn="ctr">
              <a:lnSpc>
                <a:spcPts val="8445"/>
              </a:lnSpc>
            </a:pPr>
            <a:endParaRPr lang="en-US" sz="10826" dirty="0">
              <a:solidFill>
                <a:srgbClr val="916542"/>
              </a:solidFill>
              <a:latin typeface="Art Nuvo"/>
              <a:ea typeface="Art Nuvo"/>
              <a:cs typeface="Art Nuvo"/>
              <a:sym typeface="Art Nuvo"/>
            </a:endParaRPr>
          </a:p>
        </p:txBody>
      </p:sp>
      <p:sp>
        <p:nvSpPr>
          <p:cNvPr id="8" name="Freeform 8"/>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Freeform 11"/>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TextBox 12"/>
          <p:cNvSpPr txBox="1"/>
          <p:nvPr/>
        </p:nvSpPr>
        <p:spPr>
          <a:xfrm>
            <a:off x="5806874" y="6665939"/>
            <a:ext cx="6674251" cy="1016317"/>
          </a:xfrm>
          <a:prstGeom prst="rect">
            <a:avLst/>
          </a:prstGeom>
        </p:spPr>
        <p:txBody>
          <a:bodyPr lIns="0" tIns="0" rIns="0" bIns="0" rtlCol="0" anchor="t">
            <a:spAutoFit/>
          </a:bodyPr>
          <a:lstStyle/>
          <a:p>
            <a:pPr algn="ctr">
              <a:lnSpc>
                <a:spcPts val="3637"/>
              </a:lnSpc>
            </a:pPr>
            <a:r>
              <a:rPr lang="en-US" sz="3637">
                <a:solidFill>
                  <a:srgbClr val="916542"/>
                </a:solidFill>
                <a:latin typeface="Jet"/>
                <a:ea typeface="Jet"/>
                <a:cs typeface="Jet"/>
                <a:sym typeface="Jet"/>
              </a:rPr>
              <a:t>ANGEL DWI PUTRI </a:t>
            </a:r>
          </a:p>
          <a:p>
            <a:pPr algn="ctr">
              <a:lnSpc>
                <a:spcPts val="3637"/>
              </a:lnSpc>
            </a:pPr>
            <a:r>
              <a:rPr lang="en-US" sz="3637">
                <a:solidFill>
                  <a:srgbClr val="916542"/>
                </a:solidFill>
                <a:latin typeface="Jet"/>
                <a:ea typeface="Jet"/>
                <a:cs typeface="Jet"/>
                <a:sym typeface="Jet"/>
              </a:rPr>
              <a:t>230210063 </a:t>
            </a:r>
          </a:p>
        </p:txBody>
      </p:sp>
      <p:sp>
        <p:nvSpPr>
          <p:cNvPr id="13" name="TextBox 13"/>
          <p:cNvSpPr txBox="1"/>
          <p:nvPr/>
        </p:nvSpPr>
        <p:spPr>
          <a:xfrm>
            <a:off x="1399532" y="5637691"/>
            <a:ext cx="14899611" cy="1312569"/>
          </a:xfrm>
          <a:prstGeom prst="rect">
            <a:avLst/>
          </a:prstGeom>
        </p:spPr>
        <p:txBody>
          <a:bodyPr lIns="0" tIns="0" rIns="0" bIns="0" rtlCol="0" anchor="t">
            <a:spAutoFit/>
          </a:bodyPr>
          <a:lstStyle/>
          <a:p>
            <a:pPr algn="ctr">
              <a:lnSpc>
                <a:spcPts val="4847"/>
              </a:lnSpc>
            </a:pPr>
            <a:r>
              <a:rPr lang="en-US" sz="6214">
                <a:solidFill>
                  <a:srgbClr val="916542"/>
                </a:solidFill>
                <a:latin typeface="Art Nuvo"/>
                <a:ea typeface="Art Nuvo"/>
                <a:cs typeface="Art Nuvo"/>
                <a:sym typeface="Art Nuvo"/>
              </a:rPr>
              <a:t> WEDDING DECORATION BY : ESHAL.DECORATION </a:t>
            </a:r>
          </a:p>
          <a:p>
            <a:pPr algn="ctr">
              <a:lnSpc>
                <a:spcPts val="4847"/>
              </a:lnSpc>
            </a:pPr>
            <a:endParaRPr lang="en-US" sz="6214">
              <a:solidFill>
                <a:srgbClr val="916542"/>
              </a:solidFill>
              <a:latin typeface="Art Nuvo"/>
              <a:ea typeface="Art Nuvo"/>
              <a:cs typeface="Art Nuvo"/>
              <a:sym typeface="Art Nuv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6129794" y="1882170"/>
            <a:ext cx="6028412" cy="1235039"/>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OVERVIEW</a:t>
            </a:r>
          </a:p>
        </p:txBody>
      </p:sp>
      <p:grpSp>
        <p:nvGrpSpPr>
          <p:cNvPr id="12" name="Group 12"/>
          <p:cNvGrpSpPr/>
          <p:nvPr/>
        </p:nvGrpSpPr>
        <p:grpSpPr>
          <a:xfrm>
            <a:off x="2938433" y="3737760"/>
            <a:ext cx="294855" cy="294855"/>
            <a:chOff x="0" y="0"/>
            <a:chExt cx="77657" cy="77657"/>
          </a:xfrm>
        </p:grpSpPr>
        <p:sp>
          <p:nvSpPr>
            <p:cNvPr id="13" name="Freeform 13"/>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14" name="TextBox 14"/>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3764410" y="3600867"/>
            <a:ext cx="3337126"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Latar Belakang</a:t>
            </a:r>
          </a:p>
          <a:p>
            <a:pPr algn="l">
              <a:lnSpc>
                <a:spcPts val="3637"/>
              </a:lnSpc>
            </a:pPr>
            <a:endParaRPr lang="en-US" sz="3637">
              <a:solidFill>
                <a:srgbClr val="916542"/>
              </a:solidFill>
              <a:latin typeface="Jet"/>
              <a:ea typeface="Jet"/>
              <a:cs typeface="Jet"/>
              <a:sym typeface="Jet"/>
            </a:endParaRPr>
          </a:p>
        </p:txBody>
      </p:sp>
      <p:grpSp>
        <p:nvGrpSpPr>
          <p:cNvPr id="16" name="Group 16"/>
          <p:cNvGrpSpPr/>
          <p:nvPr/>
        </p:nvGrpSpPr>
        <p:grpSpPr>
          <a:xfrm>
            <a:off x="2938433" y="5264756"/>
            <a:ext cx="294855" cy="294855"/>
            <a:chOff x="0" y="0"/>
            <a:chExt cx="77657" cy="77657"/>
          </a:xfrm>
        </p:grpSpPr>
        <p:sp>
          <p:nvSpPr>
            <p:cNvPr id="17" name="Freeform 17"/>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18" name="TextBox 18"/>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3764410" y="5127863"/>
            <a:ext cx="5615763"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Tujuan dan Manfaat Website</a:t>
            </a:r>
          </a:p>
        </p:txBody>
      </p:sp>
      <p:grpSp>
        <p:nvGrpSpPr>
          <p:cNvPr id="20" name="Group 20"/>
          <p:cNvGrpSpPr/>
          <p:nvPr/>
        </p:nvGrpSpPr>
        <p:grpSpPr>
          <a:xfrm>
            <a:off x="2938433" y="6788336"/>
            <a:ext cx="294855" cy="294855"/>
            <a:chOff x="0" y="0"/>
            <a:chExt cx="77657" cy="77657"/>
          </a:xfrm>
        </p:grpSpPr>
        <p:sp>
          <p:nvSpPr>
            <p:cNvPr id="21" name="Freeform 21"/>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22" name="TextBox 22"/>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764410" y="6658529"/>
            <a:ext cx="5814867"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Tools dan Bahasa Program</a:t>
            </a:r>
          </a:p>
          <a:p>
            <a:pPr algn="l">
              <a:lnSpc>
                <a:spcPts val="3637"/>
              </a:lnSpc>
            </a:pPr>
            <a:endParaRPr lang="en-US" sz="3637">
              <a:solidFill>
                <a:srgbClr val="916542"/>
              </a:solidFill>
              <a:latin typeface="Jet"/>
              <a:ea typeface="Jet"/>
              <a:cs typeface="Jet"/>
              <a:sym typeface="Jet"/>
            </a:endParaRPr>
          </a:p>
        </p:txBody>
      </p:sp>
      <p:grpSp>
        <p:nvGrpSpPr>
          <p:cNvPr id="24" name="Group 24"/>
          <p:cNvGrpSpPr/>
          <p:nvPr/>
        </p:nvGrpSpPr>
        <p:grpSpPr>
          <a:xfrm>
            <a:off x="9984326" y="3737760"/>
            <a:ext cx="294855" cy="294855"/>
            <a:chOff x="0" y="0"/>
            <a:chExt cx="77657" cy="77657"/>
          </a:xfrm>
        </p:grpSpPr>
        <p:sp>
          <p:nvSpPr>
            <p:cNvPr id="25" name="Freeform 25"/>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26" name="TextBox 26"/>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9984326" y="5392124"/>
            <a:ext cx="294855" cy="294855"/>
            <a:chOff x="0" y="0"/>
            <a:chExt cx="77657" cy="77657"/>
          </a:xfrm>
        </p:grpSpPr>
        <p:sp>
          <p:nvSpPr>
            <p:cNvPr id="28" name="Freeform 28"/>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29" name="TextBox 29"/>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0812581" y="3600867"/>
            <a:ext cx="3337126"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Hak Akses</a:t>
            </a:r>
          </a:p>
          <a:p>
            <a:pPr algn="l">
              <a:lnSpc>
                <a:spcPts val="3637"/>
              </a:lnSpc>
            </a:pPr>
            <a:endParaRPr lang="en-US" sz="3637">
              <a:solidFill>
                <a:srgbClr val="916542"/>
              </a:solidFill>
              <a:latin typeface="Jet"/>
              <a:ea typeface="Jet"/>
              <a:cs typeface="Jet"/>
              <a:sym typeface="Jet"/>
            </a:endParaRPr>
          </a:p>
        </p:txBody>
      </p:sp>
      <p:sp>
        <p:nvSpPr>
          <p:cNvPr id="31" name="TextBox 31"/>
          <p:cNvSpPr txBox="1"/>
          <p:nvPr/>
        </p:nvSpPr>
        <p:spPr>
          <a:xfrm>
            <a:off x="10812581" y="5255231"/>
            <a:ext cx="3629033"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Fitur Fitur Utama</a:t>
            </a:r>
          </a:p>
          <a:p>
            <a:pPr algn="l">
              <a:lnSpc>
                <a:spcPts val="3637"/>
              </a:lnSpc>
            </a:pPr>
            <a:endParaRPr lang="en-US" sz="3637">
              <a:solidFill>
                <a:srgbClr val="916542"/>
              </a:solidFill>
              <a:latin typeface="Jet"/>
              <a:ea typeface="Jet"/>
              <a:cs typeface="Jet"/>
              <a:sym typeface="Je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4117899" y="1598174"/>
            <a:ext cx="10055041" cy="1235039"/>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LATAR BELAKANG </a:t>
            </a:r>
          </a:p>
        </p:txBody>
      </p:sp>
      <p:sp>
        <p:nvSpPr>
          <p:cNvPr id="12" name="TextBox 12"/>
          <p:cNvSpPr txBox="1"/>
          <p:nvPr/>
        </p:nvSpPr>
        <p:spPr>
          <a:xfrm>
            <a:off x="2257093" y="3234061"/>
            <a:ext cx="13773814" cy="4275772"/>
          </a:xfrm>
          <a:prstGeom prst="rect">
            <a:avLst/>
          </a:prstGeom>
        </p:spPr>
        <p:txBody>
          <a:bodyPr lIns="0" tIns="0" rIns="0" bIns="0" rtlCol="0" anchor="t">
            <a:spAutoFit/>
          </a:bodyPr>
          <a:lstStyle/>
          <a:p>
            <a:pPr algn="just">
              <a:lnSpc>
                <a:spcPts val="3337"/>
              </a:lnSpc>
            </a:pPr>
            <a:r>
              <a:rPr lang="en-US" sz="3337">
                <a:solidFill>
                  <a:srgbClr val="916542"/>
                </a:solidFill>
                <a:latin typeface="Jet"/>
                <a:ea typeface="Jet"/>
                <a:cs typeface="Jet"/>
                <a:sym typeface="Jet"/>
              </a:rPr>
              <a:t>Permintaan akan dekorasi pernikahan yang unik dan personal semakin meningkat, namun proses pencarian dan pemesanan vendor masih banyak dilakukan secara manual dan tidak efisien. Untuk menjawab kebutuhan ini, dibutuhkan sebuah platform digital yang memudahkan calon pengantin menemukan, membandingkan, dan memesan jasa dekorasi secara praktis, cepat, dan transparan. Website booking decoration wedding hadir sebagai solusi modern yang mengintegrasikan berbagai vendor terpercaya dalam satu platform, mendukung pengalaman perencanaan pernikahan yang lebih mudah dan terorganisir</a:t>
            </a:r>
          </a:p>
          <a:p>
            <a:pPr algn="just">
              <a:lnSpc>
                <a:spcPts val="3337"/>
              </a:lnSpc>
            </a:pPr>
            <a:r>
              <a:rPr lang="en-US" sz="3337">
                <a:solidFill>
                  <a:srgbClr val="916542"/>
                </a:solidFill>
                <a:latin typeface="Jet"/>
                <a:ea typeface="Jet"/>
                <a:cs typeface="Jet"/>
                <a:sym typeface="Je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1655140" y="1466850"/>
            <a:ext cx="14977719" cy="3406460"/>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TUJUAN DAN MANFAAT WEBSITE</a:t>
            </a:r>
          </a:p>
          <a:p>
            <a:pPr algn="ctr">
              <a:lnSpc>
                <a:spcPts val="8590"/>
              </a:lnSpc>
            </a:pPr>
            <a:endParaRPr lang="en-US" sz="11013">
              <a:solidFill>
                <a:srgbClr val="916542"/>
              </a:solidFill>
              <a:latin typeface="Art Nuvo"/>
              <a:ea typeface="Art Nuvo"/>
              <a:cs typeface="Art Nuvo"/>
              <a:sym typeface="Art Nuvo"/>
            </a:endParaRPr>
          </a:p>
        </p:txBody>
      </p:sp>
      <p:sp>
        <p:nvSpPr>
          <p:cNvPr id="12" name="TextBox 12"/>
          <p:cNvSpPr txBox="1"/>
          <p:nvPr/>
        </p:nvSpPr>
        <p:spPr>
          <a:xfrm>
            <a:off x="3108702" y="3472292"/>
            <a:ext cx="12070596" cy="5564187"/>
          </a:xfrm>
          <a:prstGeom prst="rect">
            <a:avLst/>
          </a:prstGeom>
        </p:spPr>
        <p:txBody>
          <a:bodyPr lIns="0" tIns="0" rIns="0" bIns="0" rtlCol="0" anchor="t">
            <a:spAutoFit/>
          </a:bodyPr>
          <a:lstStyle/>
          <a:p>
            <a:pPr algn="just">
              <a:lnSpc>
                <a:spcPts val="3537"/>
              </a:lnSpc>
            </a:pPr>
            <a:r>
              <a:rPr lang="en-US" sz="3537">
                <a:solidFill>
                  <a:srgbClr val="916542"/>
                </a:solidFill>
                <a:latin typeface="Jet"/>
                <a:ea typeface="Jet"/>
                <a:cs typeface="Jet"/>
                <a:sym typeface="Jet"/>
              </a:rPr>
              <a:t> Tujuan Website Booking Decoration Wedding</a:t>
            </a:r>
          </a:p>
          <a:p>
            <a:pPr algn="just">
              <a:lnSpc>
                <a:spcPts val="3337"/>
              </a:lnSpc>
            </a:pPr>
            <a:endParaRPr lang="en-US" sz="3537">
              <a:solidFill>
                <a:srgbClr val="916542"/>
              </a:solidFill>
              <a:latin typeface="Jet"/>
              <a:ea typeface="Jet"/>
              <a:cs typeface="Jet"/>
              <a:sym typeface="Jet"/>
            </a:endParaRPr>
          </a:p>
          <a:p>
            <a:pPr marL="720560" lvl="1" indent="-360280" algn="just">
              <a:lnSpc>
                <a:spcPts val="3337"/>
              </a:lnSpc>
              <a:buAutoNum type="arabicPeriod"/>
            </a:pPr>
            <a:r>
              <a:rPr lang="en-US" sz="3337">
                <a:solidFill>
                  <a:srgbClr val="916542"/>
                </a:solidFill>
                <a:latin typeface="Jet"/>
                <a:ea typeface="Jet"/>
                <a:cs typeface="Jet"/>
                <a:sym typeface="Jet"/>
              </a:rPr>
              <a:t>Mempermudah proses pemesanan dekorasi dengan menyediakan platform online yang terintegrasi.</a:t>
            </a:r>
          </a:p>
          <a:p>
            <a:pPr marL="720560" lvl="1" indent="-360280" algn="just">
              <a:lnSpc>
                <a:spcPts val="3337"/>
              </a:lnSpc>
              <a:buAutoNum type="arabicPeriod"/>
            </a:pPr>
            <a:r>
              <a:rPr lang="en-US" sz="3337">
                <a:solidFill>
                  <a:srgbClr val="916542"/>
                </a:solidFill>
                <a:latin typeface="Jet"/>
                <a:ea typeface="Jet"/>
                <a:cs typeface="Jet"/>
                <a:sym typeface="Jet"/>
              </a:rPr>
              <a:t>Menjadi jembatan antara calon pengantin dan vendor dekorasi secara efisien dan terpercaya.</a:t>
            </a:r>
          </a:p>
          <a:p>
            <a:pPr marL="720560" lvl="1" indent="-360280" algn="just">
              <a:lnSpc>
                <a:spcPts val="3337"/>
              </a:lnSpc>
              <a:buAutoNum type="arabicPeriod"/>
            </a:pPr>
            <a:r>
              <a:rPr lang="en-US" sz="3337">
                <a:solidFill>
                  <a:srgbClr val="916542"/>
                </a:solidFill>
                <a:latin typeface="Jet"/>
                <a:ea typeface="Jet"/>
                <a:cs typeface="Jet"/>
                <a:sym typeface="Jet"/>
              </a:rPr>
              <a:t>Memberikan akses informasi yang transparan dan lengkap mengenai layanan, harga, dan portofolio vendor.</a:t>
            </a:r>
          </a:p>
          <a:p>
            <a:pPr marL="720560" lvl="1" indent="-360280" algn="just">
              <a:lnSpc>
                <a:spcPts val="3337"/>
              </a:lnSpc>
              <a:buAutoNum type="arabicPeriod"/>
            </a:pPr>
            <a:r>
              <a:rPr lang="en-US" sz="3337">
                <a:solidFill>
                  <a:srgbClr val="916542"/>
                </a:solidFill>
                <a:latin typeface="Jet"/>
                <a:ea typeface="Jet"/>
                <a:cs typeface="Jet"/>
                <a:sym typeface="Jet"/>
              </a:rPr>
              <a:t>Menghemat waktu dan tenaga dalam proses perencanaan pernikahan.</a:t>
            </a:r>
          </a:p>
          <a:p>
            <a:pPr marL="720560" lvl="1" indent="-360280" algn="just">
              <a:lnSpc>
                <a:spcPts val="3337"/>
              </a:lnSpc>
              <a:buAutoNum type="arabicPeriod"/>
            </a:pPr>
            <a:r>
              <a:rPr lang="en-US" sz="3337">
                <a:solidFill>
                  <a:srgbClr val="916542"/>
                </a:solidFill>
                <a:latin typeface="Jet"/>
                <a:ea typeface="Jet"/>
                <a:cs typeface="Jet"/>
                <a:sym typeface="Jet"/>
              </a:rPr>
              <a:t>Meningkatkan daya saing dan visibilitas vendor dekorasi lokal melalui kehadiran digital.</a:t>
            </a:r>
          </a:p>
          <a:p>
            <a:pPr algn="just">
              <a:lnSpc>
                <a:spcPts val="3337"/>
              </a:lnSpc>
            </a:pPr>
            <a:endParaRPr lang="en-US" sz="3337">
              <a:solidFill>
                <a:srgbClr val="916542"/>
              </a:solidFill>
              <a:latin typeface="Jet"/>
              <a:ea typeface="Jet"/>
              <a:cs typeface="Jet"/>
              <a:sym typeface="Je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1655140" y="1466850"/>
            <a:ext cx="14977719" cy="3406460"/>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TUJUAN DAN MANFAAT WEBSITE</a:t>
            </a:r>
          </a:p>
          <a:p>
            <a:pPr algn="ctr">
              <a:lnSpc>
                <a:spcPts val="8590"/>
              </a:lnSpc>
            </a:pPr>
            <a:endParaRPr lang="en-US" sz="11013">
              <a:solidFill>
                <a:srgbClr val="916542"/>
              </a:solidFill>
              <a:latin typeface="Art Nuvo"/>
              <a:ea typeface="Art Nuvo"/>
              <a:cs typeface="Art Nuvo"/>
              <a:sym typeface="Art Nuvo"/>
            </a:endParaRPr>
          </a:p>
        </p:txBody>
      </p:sp>
      <p:sp>
        <p:nvSpPr>
          <p:cNvPr id="12" name="TextBox 12"/>
          <p:cNvSpPr txBox="1"/>
          <p:nvPr/>
        </p:nvSpPr>
        <p:spPr>
          <a:xfrm>
            <a:off x="3108702" y="3472292"/>
            <a:ext cx="12070596" cy="5430837"/>
          </a:xfrm>
          <a:prstGeom prst="rect">
            <a:avLst/>
          </a:prstGeom>
        </p:spPr>
        <p:txBody>
          <a:bodyPr lIns="0" tIns="0" rIns="0" bIns="0" rtlCol="0" anchor="t">
            <a:spAutoFit/>
          </a:bodyPr>
          <a:lstStyle/>
          <a:p>
            <a:pPr algn="just">
              <a:lnSpc>
                <a:spcPts val="3537"/>
              </a:lnSpc>
            </a:pPr>
            <a:r>
              <a:rPr lang="en-US" sz="3537">
                <a:solidFill>
                  <a:srgbClr val="916542"/>
                </a:solidFill>
                <a:latin typeface="Jet"/>
                <a:ea typeface="Jet"/>
                <a:cs typeface="Jet"/>
                <a:sym typeface="Jet"/>
              </a:rPr>
              <a:t> Manfaat Website Booking Decoration Wedding</a:t>
            </a:r>
          </a:p>
          <a:p>
            <a:pPr marL="763739" lvl="1" indent="-381869" algn="just">
              <a:lnSpc>
                <a:spcPts val="3537"/>
              </a:lnSpc>
              <a:buAutoNum type="arabicPeriod"/>
            </a:pPr>
            <a:r>
              <a:rPr lang="en-US" sz="3537">
                <a:solidFill>
                  <a:srgbClr val="916542"/>
                </a:solidFill>
                <a:latin typeface="Jet"/>
                <a:ea typeface="Jet"/>
                <a:cs typeface="Jet"/>
                <a:sym typeface="Jet"/>
              </a:rPr>
              <a:t>Akses 24/7 ke berbagai pilihan dekorasi sesuai tema, lokasi, dan budget.</a:t>
            </a:r>
          </a:p>
          <a:p>
            <a:pPr marL="763739" lvl="1" indent="-381869" algn="just">
              <a:lnSpc>
                <a:spcPts val="3537"/>
              </a:lnSpc>
              <a:buAutoNum type="arabicPeriod"/>
            </a:pPr>
            <a:r>
              <a:rPr lang="en-US" sz="3537">
                <a:solidFill>
                  <a:srgbClr val="916542"/>
                </a:solidFill>
                <a:latin typeface="Jet"/>
                <a:ea typeface="Jet"/>
                <a:cs typeface="Jet"/>
                <a:sym typeface="Jet"/>
              </a:rPr>
              <a:t> Proses booking cepat dan praktis tanpa perlu bertatap muka langsung di awal.</a:t>
            </a:r>
          </a:p>
          <a:p>
            <a:pPr marL="763739" lvl="1" indent="-381869" algn="just">
              <a:lnSpc>
                <a:spcPts val="3537"/>
              </a:lnSpc>
              <a:buAutoNum type="arabicPeriod"/>
            </a:pPr>
            <a:r>
              <a:rPr lang="en-US" sz="3537">
                <a:solidFill>
                  <a:srgbClr val="916542"/>
                </a:solidFill>
                <a:latin typeface="Jet"/>
                <a:ea typeface="Jet"/>
                <a:cs typeface="Jet"/>
                <a:sym typeface="Jet"/>
              </a:rPr>
              <a:t>Perbandingan harga dan layanan secara instan, membantu pengambilan keputusan yang lebih bijak.</a:t>
            </a:r>
          </a:p>
          <a:p>
            <a:pPr marL="763739" lvl="1" indent="-381869" algn="just">
              <a:lnSpc>
                <a:spcPts val="3537"/>
              </a:lnSpc>
              <a:buAutoNum type="arabicPeriod"/>
            </a:pPr>
            <a:r>
              <a:rPr lang="en-US" sz="3537">
                <a:solidFill>
                  <a:srgbClr val="916542"/>
                </a:solidFill>
                <a:latin typeface="Jet"/>
                <a:ea typeface="Jet"/>
                <a:cs typeface="Jet"/>
                <a:sym typeface="Jet"/>
              </a:rPr>
              <a:t> Ulasan dan rating dari pengguna lain untuk memastikan kualitas vendor.</a:t>
            </a:r>
          </a:p>
          <a:p>
            <a:pPr marL="763739" lvl="1" indent="-381869" algn="just">
              <a:lnSpc>
                <a:spcPts val="3537"/>
              </a:lnSpc>
              <a:buAutoNum type="arabicPeriod"/>
            </a:pPr>
            <a:r>
              <a:rPr lang="en-US" sz="3537">
                <a:solidFill>
                  <a:srgbClr val="916542"/>
                </a:solidFill>
                <a:latin typeface="Jet"/>
                <a:ea typeface="Jet"/>
                <a:cs typeface="Jet"/>
                <a:sym typeface="Jet"/>
              </a:rPr>
              <a:t>Promosi dan pemasaran lebih luas bagi vendor melalui platform digital.</a:t>
            </a:r>
          </a:p>
          <a:p>
            <a:pPr algn="just">
              <a:lnSpc>
                <a:spcPts val="3337"/>
              </a:lnSpc>
            </a:pPr>
            <a:endParaRPr lang="en-US" sz="3537">
              <a:solidFill>
                <a:srgbClr val="916542"/>
              </a:solidFill>
              <a:latin typeface="Jet"/>
              <a:ea typeface="Jet"/>
              <a:cs typeface="Jet"/>
              <a:sym typeface="Je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2157556" y="1466850"/>
            <a:ext cx="13235799" cy="3406460"/>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TOOLS &amp; BAHASA PROGRAM</a:t>
            </a:r>
          </a:p>
          <a:p>
            <a:pPr algn="ctr">
              <a:lnSpc>
                <a:spcPts val="8590"/>
              </a:lnSpc>
            </a:pPr>
            <a:endParaRPr lang="en-US" sz="11013">
              <a:solidFill>
                <a:srgbClr val="916542"/>
              </a:solidFill>
              <a:latin typeface="Art Nuvo"/>
              <a:ea typeface="Art Nuvo"/>
              <a:cs typeface="Art Nuvo"/>
              <a:sym typeface="Art Nuvo"/>
            </a:endParaRPr>
          </a:p>
        </p:txBody>
      </p:sp>
      <p:grpSp>
        <p:nvGrpSpPr>
          <p:cNvPr id="12" name="Group 12"/>
          <p:cNvGrpSpPr/>
          <p:nvPr/>
        </p:nvGrpSpPr>
        <p:grpSpPr>
          <a:xfrm>
            <a:off x="2894644" y="4032615"/>
            <a:ext cx="294855" cy="294855"/>
            <a:chOff x="0" y="0"/>
            <a:chExt cx="77657" cy="77657"/>
          </a:xfrm>
        </p:grpSpPr>
        <p:sp>
          <p:nvSpPr>
            <p:cNvPr id="13" name="Freeform 13"/>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14" name="TextBox 14"/>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894644" y="5678160"/>
            <a:ext cx="294855" cy="294855"/>
            <a:chOff x="0" y="0"/>
            <a:chExt cx="77657" cy="77657"/>
          </a:xfrm>
        </p:grpSpPr>
        <p:sp>
          <p:nvSpPr>
            <p:cNvPr id="16" name="Freeform 16"/>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17" name="TextBox 17"/>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2894644" y="7323705"/>
            <a:ext cx="294855" cy="294855"/>
            <a:chOff x="0" y="0"/>
            <a:chExt cx="77657" cy="77657"/>
          </a:xfrm>
        </p:grpSpPr>
        <p:sp>
          <p:nvSpPr>
            <p:cNvPr id="19" name="Freeform 19"/>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20" name="TextBox 20"/>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3528237" y="3814549"/>
            <a:ext cx="5615763" cy="14735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LARAVEL: Backend Framework PHP</a:t>
            </a:r>
          </a:p>
          <a:p>
            <a:pPr algn="l">
              <a:lnSpc>
                <a:spcPts val="3637"/>
              </a:lnSpc>
            </a:pPr>
            <a:endParaRPr lang="en-US" sz="3637">
              <a:solidFill>
                <a:srgbClr val="916542"/>
              </a:solidFill>
              <a:latin typeface="Jet"/>
              <a:ea typeface="Jet"/>
              <a:cs typeface="Jet"/>
              <a:sym typeface="Jet"/>
            </a:endParaRPr>
          </a:p>
        </p:txBody>
      </p:sp>
      <p:sp>
        <p:nvSpPr>
          <p:cNvPr id="22" name="TextBox 22"/>
          <p:cNvSpPr txBox="1"/>
          <p:nvPr/>
        </p:nvSpPr>
        <p:spPr>
          <a:xfrm>
            <a:off x="3530318" y="5481316"/>
            <a:ext cx="5615763"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MY SQL: Database</a:t>
            </a:r>
          </a:p>
          <a:p>
            <a:pPr algn="l">
              <a:lnSpc>
                <a:spcPts val="3637"/>
              </a:lnSpc>
            </a:pPr>
            <a:endParaRPr lang="en-US" sz="3637">
              <a:solidFill>
                <a:srgbClr val="916542"/>
              </a:solidFill>
              <a:latin typeface="Jet"/>
              <a:ea typeface="Jet"/>
              <a:cs typeface="Jet"/>
              <a:sym typeface="Jet"/>
            </a:endParaRPr>
          </a:p>
        </p:txBody>
      </p:sp>
      <p:sp>
        <p:nvSpPr>
          <p:cNvPr id="23" name="TextBox 23"/>
          <p:cNvSpPr txBox="1"/>
          <p:nvPr/>
        </p:nvSpPr>
        <p:spPr>
          <a:xfrm>
            <a:off x="3530318" y="7105640"/>
            <a:ext cx="5615763"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HTML &amp; CSS: Tampilan</a:t>
            </a:r>
          </a:p>
          <a:p>
            <a:pPr algn="l">
              <a:lnSpc>
                <a:spcPts val="3637"/>
              </a:lnSpc>
            </a:pPr>
            <a:endParaRPr lang="en-US" sz="3637">
              <a:solidFill>
                <a:srgbClr val="916542"/>
              </a:solidFill>
              <a:latin typeface="Jet"/>
              <a:ea typeface="Jet"/>
              <a:cs typeface="Jet"/>
              <a:sym typeface="Jet"/>
            </a:endParaRPr>
          </a:p>
        </p:txBody>
      </p:sp>
      <p:grpSp>
        <p:nvGrpSpPr>
          <p:cNvPr id="24" name="Group 24"/>
          <p:cNvGrpSpPr/>
          <p:nvPr/>
        </p:nvGrpSpPr>
        <p:grpSpPr>
          <a:xfrm>
            <a:off x="9486900" y="4032615"/>
            <a:ext cx="294855" cy="294855"/>
            <a:chOff x="0" y="0"/>
            <a:chExt cx="77657" cy="77657"/>
          </a:xfrm>
        </p:grpSpPr>
        <p:sp>
          <p:nvSpPr>
            <p:cNvPr id="25" name="Freeform 25"/>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26" name="TextBox 26"/>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9486900" y="5678160"/>
            <a:ext cx="294855" cy="294855"/>
            <a:chOff x="0" y="0"/>
            <a:chExt cx="77657" cy="77657"/>
          </a:xfrm>
        </p:grpSpPr>
        <p:sp>
          <p:nvSpPr>
            <p:cNvPr id="28" name="Freeform 28"/>
            <p:cNvSpPr/>
            <p:nvPr/>
          </p:nvSpPr>
          <p:spPr>
            <a:xfrm>
              <a:off x="0" y="0"/>
              <a:ext cx="77657" cy="77657"/>
            </a:xfrm>
            <a:custGeom>
              <a:avLst/>
              <a:gdLst/>
              <a:ahLst/>
              <a:cxnLst/>
              <a:rect l="l" t="t" r="r" b="b"/>
              <a:pathLst>
                <a:path w="77657" h="77657">
                  <a:moveTo>
                    <a:pt x="0" y="0"/>
                  </a:moveTo>
                  <a:lnTo>
                    <a:pt x="77657" y="0"/>
                  </a:lnTo>
                  <a:lnTo>
                    <a:pt x="77657" y="77657"/>
                  </a:lnTo>
                  <a:lnTo>
                    <a:pt x="0" y="77657"/>
                  </a:lnTo>
                  <a:close/>
                </a:path>
              </a:pathLst>
            </a:custGeom>
            <a:solidFill>
              <a:srgbClr val="916542"/>
            </a:solidFill>
          </p:spPr>
        </p:sp>
        <p:sp>
          <p:nvSpPr>
            <p:cNvPr id="29" name="TextBox 29"/>
            <p:cNvSpPr txBox="1"/>
            <p:nvPr/>
          </p:nvSpPr>
          <p:spPr>
            <a:xfrm>
              <a:off x="0" y="-38100"/>
              <a:ext cx="77657" cy="115757"/>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0124655" y="3856993"/>
            <a:ext cx="5615763"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XAMPP: Local server</a:t>
            </a:r>
          </a:p>
          <a:p>
            <a:pPr algn="l">
              <a:lnSpc>
                <a:spcPts val="3637"/>
              </a:lnSpc>
            </a:pPr>
            <a:endParaRPr lang="en-US" sz="3637">
              <a:solidFill>
                <a:srgbClr val="916542"/>
              </a:solidFill>
              <a:latin typeface="Jet"/>
              <a:ea typeface="Jet"/>
              <a:cs typeface="Jet"/>
              <a:sym typeface="Jet"/>
            </a:endParaRPr>
          </a:p>
        </p:txBody>
      </p:sp>
      <p:sp>
        <p:nvSpPr>
          <p:cNvPr id="31" name="TextBox 31"/>
          <p:cNvSpPr txBox="1"/>
          <p:nvPr/>
        </p:nvSpPr>
        <p:spPr>
          <a:xfrm>
            <a:off x="10124655" y="5460095"/>
            <a:ext cx="5615763" cy="1016317"/>
          </a:xfrm>
          <a:prstGeom prst="rect">
            <a:avLst/>
          </a:prstGeom>
        </p:spPr>
        <p:txBody>
          <a:bodyPr lIns="0" tIns="0" rIns="0" bIns="0" rtlCol="0" anchor="t">
            <a:spAutoFit/>
          </a:bodyPr>
          <a:lstStyle/>
          <a:p>
            <a:pPr algn="l">
              <a:lnSpc>
                <a:spcPts val="3637"/>
              </a:lnSpc>
            </a:pPr>
            <a:r>
              <a:rPr lang="en-US" sz="3637">
                <a:solidFill>
                  <a:srgbClr val="916542"/>
                </a:solidFill>
                <a:latin typeface="Jet"/>
                <a:ea typeface="Jet"/>
                <a:cs typeface="Jet"/>
                <a:sym typeface="Jet"/>
              </a:rPr>
              <a:t>VSCode: Code editor</a:t>
            </a:r>
          </a:p>
          <a:p>
            <a:pPr algn="l">
              <a:lnSpc>
                <a:spcPts val="3637"/>
              </a:lnSpc>
            </a:pPr>
            <a:endParaRPr lang="en-US" sz="3637">
              <a:solidFill>
                <a:srgbClr val="916542"/>
              </a:solidFill>
              <a:latin typeface="Jet"/>
              <a:ea typeface="Jet"/>
              <a:cs typeface="Jet"/>
              <a:sym typeface="Je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4953250" y="1466850"/>
            <a:ext cx="7311828" cy="2320749"/>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HAK AKSES</a:t>
            </a:r>
          </a:p>
          <a:p>
            <a:pPr algn="ctr">
              <a:lnSpc>
                <a:spcPts val="8590"/>
              </a:lnSpc>
            </a:pPr>
            <a:endParaRPr lang="en-US" sz="11013">
              <a:solidFill>
                <a:srgbClr val="916542"/>
              </a:solidFill>
              <a:latin typeface="Art Nuvo"/>
              <a:ea typeface="Art Nuvo"/>
              <a:cs typeface="Art Nuvo"/>
              <a:sym typeface="Art Nuvo"/>
            </a:endParaRPr>
          </a:p>
        </p:txBody>
      </p:sp>
      <p:sp>
        <p:nvSpPr>
          <p:cNvPr id="12" name="TextBox 12"/>
          <p:cNvSpPr txBox="1"/>
          <p:nvPr/>
        </p:nvSpPr>
        <p:spPr>
          <a:xfrm>
            <a:off x="2258513" y="2922035"/>
            <a:ext cx="13329716" cy="5853196"/>
          </a:xfrm>
          <a:prstGeom prst="rect">
            <a:avLst/>
          </a:prstGeom>
        </p:spPr>
        <p:txBody>
          <a:bodyPr lIns="0" tIns="0" rIns="0" bIns="0" rtlCol="0" anchor="t">
            <a:spAutoFit/>
          </a:bodyPr>
          <a:lstStyle/>
          <a:p>
            <a:pPr algn="just">
              <a:lnSpc>
                <a:spcPts val="2440"/>
              </a:lnSpc>
            </a:pPr>
            <a:r>
              <a:rPr lang="en-US" sz="2440">
                <a:solidFill>
                  <a:srgbClr val="916542"/>
                </a:solidFill>
                <a:latin typeface="Jet"/>
                <a:ea typeface="Jet"/>
                <a:cs typeface="Jet"/>
                <a:sym typeface="Jet"/>
              </a:rPr>
              <a:t>Hak Akses Admin</a:t>
            </a:r>
          </a:p>
          <a:p>
            <a:pPr algn="just">
              <a:lnSpc>
                <a:spcPts val="2440"/>
              </a:lnSpc>
            </a:pPr>
            <a:r>
              <a:rPr lang="en-US" sz="2440">
                <a:solidFill>
                  <a:srgbClr val="916542"/>
                </a:solidFill>
                <a:latin typeface="Jet"/>
                <a:ea typeface="Jet"/>
                <a:cs typeface="Jet"/>
                <a:sym typeface="Jet"/>
              </a:rPr>
              <a:t>Admin memiliki kontrol penuh terhadap sistem. Beberapa hak akses utama admin antara lain:</a:t>
            </a:r>
          </a:p>
          <a:p>
            <a:pPr marL="526969" lvl="1" indent="-263484" algn="just">
              <a:lnSpc>
                <a:spcPts val="2440"/>
              </a:lnSpc>
              <a:buAutoNum type="arabicPeriod"/>
            </a:pPr>
            <a:r>
              <a:rPr lang="en-US" sz="2440">
                <a:solidFill>
                  <a:srgbClr val="916542"/>
                </a:solidFill>
                <a:latin typeface="Jet"/>
                <a:ea typeface="Jet"/>
                <a:cs typeface="Jet"/>
                <a:sym typeface="Jet"/>
              </a:rPr>
              <a:t>Manajemen Akun Vendor dan Pelanggan</a:t>
            </a:r>
          </a:p>
          <a:p>
            <a:pPr marL="1053937" lvl="2" indent="-351312" algn="just">
              <a:lnSpc>
                <a:spcPts val="2440"/>
              </a:lnSpc>
              <a:buFont typeface="Arial"/>
              <a:buChar char="⚬"/>
            </a:pPr>
            <a:r>
              <a:rPr lang="en-US" sz="2440">
                <a:solidFill>
                  <a:srgbClr val="916542"/>
                </a:solidFill>
                <a:latin typeface="Jet"/>
                <a:ea typeface="Jet"/>
                <a:cs typeface="Jet"/>
                <a:sym typeface="Jet"/>
              </a:rPr>
              <a:t>Menambahkan, mengedit, atau menghapus akun vendor dan pelanggan.</a:t>
            </a:r>
          </a:p>
          <a:p>
            <a:pPr marL="1053937" lvl="2" indent="-351312" algn="just">
              <a:lnSpc>
                <a:spcPts val="2440"/>
              </a:lnSpc>
              <a:buFont typeface="Arial"/>
              <a:buChar char="⚬"/>
            </a:pPr>
            <a:r>
              <a:rPr lang="en-US" sz="2440">
                <a:solidFill>
                  <a:srgbClr val="916542"/>
                </a:solidFill>
                <a:latin typeface="Jet"/>
                <a:ea typeface="Jet"/>
                <a:cs typeface="Jet"/>
                <a:sym typeface="Jet"/>
              </a:rPr>
              <a:t>Melihat data pengguna dan riwayat aktivitas mereka.</a:t>
            </a:r>
          </a:p>
          <a:p>
            <a:pPr marL="526969" lvl="1" indent="-263484" algn="just">
              <a:lnSpc>
                <a:spcPts val="2440"/>
              </a:lnSpc>
              <a:buAutoNum type="arabicPeriod"/>
            </a:pPr>
            <a:r>
              <a:rPr lang="en-US" sz="2440">
                <a:solidFill>
                  <a:srgbClr val="916542"/>
                </a:solidFill>
                <a:latin typeface="Jet"/>
                <a:ea typeface="Jet"/>
                <a:cs typeface="Jet"/>
                <a:sym typeface="Jet"/>
              </a:rPr>
              <a:t>Manajemen Konten</a:t>
            </a:r>
          </a:p>
          <a:p>
            <a:pPr marL="1053937" lvl="2" indent="-351312" algn="just">
              <a:lnSpc>
                <a:spcPts val="2440"/>
              </a:lnSpc>
              <a:buFont typeface="Arial"/>
              <a:buChar char="⚬"/>
            </a:pPr>
            <a:r>
              <a:rPr lang="en-US" sz="2440">
                <a:solidFill>
                  <a:srgbClr val="916542"/>
                </a:solidFill>
                <a:latin typeface="Jet"/>
                <a:ea typeface="Jet"/>
                <a:cs typeface="Jet"/>
                <a:sym typeface="Jet"/>
              </a:rPr>
              <a:t>Mengelola informasi di halaman utama (banner, artikel, testimoni, FAQ, dll).</a:t>
            </a:r>
          </a:p>
          <a:p>
            <a:pPr marL="1053937" lvl="2" indent="-351312" algn="just">
              <a:lnSpc>
                <a:spcPts val="2440"/>
              </a:lnSpc>
              <a:buFont typeface="Arial"/>
              <a:buChar char="⚬"/>
            </a:pPr>
            <a:r>
              <a:rPr lang="en-US" sz="2440">
                <a:solidFill>
                  <a:srgbClr val="916542"/>
                </a:solidFill>
                <a:latin typeface="Jet"/>
                <a:ea typeface="Jet"/>
                <a:cs typeface="Jet"/>
                <a:sym typeface="Jet"/>
              </a:rPr>
              <a:t>Upload dan edit konten promosi atau paket dekorasi unggulan.</a:t>
            </a:r>
          </a:p>
          <a:p>
            <a:pPr marL="526969" lvl="1" indent="-263484" algn="just">
              <a:lnSpc>
                <a:spcPts val="2440"/>
              </a:lnSpc>
              <a:buAutoNum type="arabicPeriod"/>
            </a:pPr>
            <a:r>
              <a:rPr lang="en-US" sz="2440">
                <a:solidFill>
                  <a:srgbClr val="916542"/>
                </a:solidFill>
                <a:latin typeface="Jet"/>
                <a:ea typeface="Jet"/>
                <a:cs typeface="Jet"/>
                <a:sym typeface="Jet"/>
              </a:rPr>
              <a:t>Manajemen Booking dan Transaksi</a:t>
            </a:r>
          </a:p>
          <a:p>
            <a:pPr marL="1053937" lvl="2" indent="-351312" algn="just">
              <a:lnSpc>
                <a:spcPts val="2440"/>
              </a:lnSpc>
              <a:buFont typeface="Arial"/>
              <a:buChar char="⚬"/>
            </a:pPr>
            <a:r>
              <a:rPr lang="en-US" sz="2440">
                <a:solidFill>
                  <a:srgbClr val="916542"/>
                </a:solidFill>
                <a:latin typeface="Jet"/>
                <a:ea typeface="Jet"/>
                <a:cs typeface="Jet"/>
                <a:sym typeface="Jet"/>
              </a:rPr>
              <a:t>Melihat seluruh riwayat pemesanan dari semua pengguna.</a:t>
            </a:r>
          </a:p>
          <a:p>
            <a:pPr marL="1053937" lvl="2" indent="-351312" algn="just">
              <a:lnSpc>
                <a:spcPts val="2440"/>
              </a:lnSpc>
              <a:buFont typeface="Arial"/>
              <a:buChar char="⚬"/>
            </a:pPr>
            <a:r>
              <a:rPr lang="en-US" sz="2440">
                <a:solidFill>
                  <a:srgbClr val="916542"/>
                </a:solidFill>
                <a:latin typeface="Jet"/>
                <a:ea typeface="Jet"/>
                <a:cs typeface="Jet"/>
                <a:sym typeface="Jet"/>
              </a:rPr>
              <a:t>Memverifikasi, menyetujui, atau membatalkan pemesanan.</a:t>
            </a:r>
          </a:p>
          <a:p>
            <a:pPr marL="1053937" lvl="2" indent="-351312" algn="just">
              <a:lnSpc>
                <a:spcPts val="2440"/>
              </a:lnSpc>
              <a:buFont typeface="Arial"/>
              <a:buChar char="⚬"/>
            </a:pPr>
            <a:r>
              <a:rPr lang="en-US" sz="2440">
                <a:solidFill>
                  <a:srgbClr val="916542"/>
                </a:solidFill>
                <a:latin typeface="Jet"/>
                <a:ea typeface="Jet"/>
                <a:cs typeface="Jet"/>
                <a:sym typeface="Jet"/>
              </a:rPr>
              <a:t>Mengelola status pembayaran dan konfirmasi transaksi.</a:t>
            </a:r>
          </a:p>
          <a:p>
            <a:pPr marL="526969" lvl="1" indent="-263484" algn="just">
              <a:lnSpc>
                <a:spcPts val="2440"/>
              </a:lnSpc>
              <a:buAutoNum type="arabicPeriod"/>
            </a:pPr>
            <a:r>
              <a:rPr lang="en-US" sz="2440">
                <a:solidFill>
                  <a:srgbClr val="916542"/>
                </a:solidFill>
                <a:latin typeface="Jet"/>
                <a:ea typeface="Jet"/>
                <a:cs typeface="Jet"/>
                <a:sym typeface="Jet"/>
              </a:rPr>
              <a:t>Analitik dan Laporan</a:t>
            </a:r>
          </a:p>
          <a:p>
            <a:pPr marL="1053937" lvl="2" indent="-351312" algn="just">
              <a:lnSpc>
                <a:spcPts val="2440"/>
              </a:lnSpc>
              <a:buFont typeface="Arial"/>
              <a:buChar char="⚬"/>
            </a:pPr>
            <a:r>
              <a:rPr lang="en-US" sz="2440">
                <a:solidFill>
                  <a:srgbClr val="916542"/>
                </a:solidFill>
                <a:latin typeface="Jet"/>
                <a:ea typeface="Jet"/>
                <a:cs typeface="Jet"/>
                <a:sym typeface="Jet"/>
              </a:rPr>
              <a:t>Melihat statistik penggunaan website, jumlah booking, pendapatan, dan performa vendor.</a:t>
            </a:r>
          </a:p>
          <a:p>
            <a:pPr marL="1053937" lvl="2" indent="-351312" algn="just">
              <a:lnSpc>
                <a:spcPts val="2440"/>
              </a:lnSpc>
              <a:buFont typeface="Arial"/>
              <a:buChar char="⚬"/>
            </a:pPr>
            <a:r>
              <a:rPr lang="en-US" sz="2440">
                <a:solidFill>
                  <a:srgbClr val="916542"/>
                </a:solidFill>
                <a:latin typeface="Jet"/>
                <a:ea typeface="Jet"/>
                <a:cs typeface="Jet"/>
                <a:sym typeface="Jet"/>
              </a:rPr>
              <a:t>Export data untuk keperluan manajemen dan pengambilan keputusan.</a:t>
            </a:r>
          </a:p>
          <a:p>
            <a:pPr marL="526969" lvl="1" indent="-263484" algn="just">
              <a:lnSpc>
                <a:spcPts val="2440"/>
              </a:lnSpc>
              <a:buAutoNum type="arabicPeriod"/>
            </a:pPr>
            <a:r>
              <a:rPr lang="en-US" sz="2440">
                <a:solidFill>
                  <a:srgbClr val="916542"/>
                </a:solidFill>
                <a:latin typeface="Jet"/>
                <a:ea typeface="Jet"/>
                <a:cs typeface="Jet"/>
                <a:sym typeface="Jet"/>
              </a:rPr>
              <a:t>Manajemen Sistem dan Keamanan</a:t>
            </a:r>
          </a:p>
          <a:p>
            <a:pPr marL="1053937" lvl="2" indent="-351312" algn="just">
              <a:lnSpc>
                <a:spcPts val="2440"/>
              </a:lnSpc>
              <a:buFont typeface="Arial"/>
              <a:buChar char="⚬"/>
            </a:pPr>
            <a:r>
              <a:rPr lang="en-US" sz="2440">
                <a:solidFill>
                  <a:srgbClr val="916542"/>
                </a:solidFill>
                <a:latin typeface="Jet"/>
                <a:ea typeface="Jet"/>
                <a:cs typeface="Jet"/>
                <a:sym typeface="Jet"/>
              </a:rPr>
              <a:t>Melakukan backup data, mengatur hak akses, serta mengelola keamanan akun dan server.</a:t>
            </a:r>
          </a:p>
          <a:p>
            <a:pPr algn="just">
              <a:lnSpc>
                <a:spcPts val="2440"/>
              </a:lnSpc>
            </a:pPr>
            <a:endParaRPr lang="en-US" sz="2440">
              <a:solidFill>
                <a:srgbClr val="916542"/>
              </a:solidFill>
              <a:latin typeface="Jet"/>
              <a:ea typeface="Jet"/>
              <a:cs typeface="Jet"/>
              <a:sym typeface="Jet"/>
            </a:endParaRPr>
          </a:p>
        </p:txBody>
      </p:sp>
      <p:sp>
        <p:nvSpPr>
          <p:cNvPr id="13" name="TextBox 13"/>
          <p:cNvSpPr txBox="1"/>
          <p:nvPr/>
        </p:nvSpPr>
        <p:spPr>
          <a:xfrm>
            <a:off x="864949" y="2560550"/>
            <a:ext cx="16558102" cy="361485"/>
          </a:xfrm>
          <a:prstGeom prst="rect">
            <a:avLst/>
          </a:prstGeom>
        </p:spPr>
        <p:txBody>
          <a:bodyPr lIns="0" tIns="0" rIns="0" bIns="0" rtlCol="0" anchor="t">
            <a:spAutoFit/>
          </a:bodyPr>
          <a:lstStyle/>
          <a:p>
            <a:pPr algn="ctr">
              <a:lnSpc>
                <a:spcPts val="3131"/>
              </a:lnSpc>
            </a:pPr>
            <a:r>
              <a:rPr lang="en-US" sz="4014">
                <a:solidFill>
                  <a:srgbClr val="916542"/>
                </a:solidFill>
                <a:latin typeface="Art Nuvo"/>
                <a:ea typeface="Art Nuvo"/>
                <a:cs typeface="Art Nuvo"/>
                <a:sym typeface="Art Nuvo"/>
              </a:rPr>
              <a:t>Dalam website ini, hak akses dibagi menjadi dua jenis pengguna, yaitu:</a:t>
            </a:r>
          </a:p>
          <a:p>
            <a:pPr algn="ctr">
              <a:lnSpc>
                <a:spcPts val="58"/>
              </a:lnSpc>
            </a:pPr>
            <a:endParaRPr lang="en-US" sz="4014">
              <a:solidFill>
                <a:srgbClr val="916542"/>
              </a:solidFill>
              <a:latin typeface="Art Nuvo"/>
              <a:ea typeface="Art Nuvo"/>
              <a:cs typeface="Art Nuvo"/>
              <a:sym typeface="Art Nuv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4953250" y="1466850"/>
            <a:ext cx="7311828" cy="2320749"/>
          </a:xfrm>
          <a:prstGeom prst="rect">
            <a:avLst/>
          </a:prstGeom>
        </p:spPr>
        <p:txBody>
          <a:bodyPr lIns="0" tIns="0" rIns="0" bIns="0" rtlCol="0" anchor="t">
            <a:spAutoFit/>
          </a:bodyPr>
          <a:lstStyle/>
          <a:p>
            <a:pPr algn="ctr">
              <a:lnSpc>
                <a:spcPts val="8590"/>
              </a:lnSpc>
            </a:pPr>
            <a:r>
              <a:rPr lang="en-US" sz="11013">
                <a:solidFill>
                  <a:srgbClr val="916542"/>
                </a:solidFill>
                <a:latin typeface="Art Nuvo"/>
                <a:ea typeface="Art Nuvo"/>
                <a:cs typeface="Art Nuvo"/>
                <a:sym typeface="Art Nuvo"/>
              </a:rPr>
              <a:t>HAK AKSES</a:t>
            </a:r>
          </a:p>
          <a:p>
            <a:pPr algn="ctr">
              <a:lnSpc>
                <a:spcPts val="8590"/>
              </a:lnSpc>
            </a:pPr>
            <a:endParaRPr lang="en-US" sz="11013">
              <a:solidFill>
                <a:srgbClr val="916542"/>
              </a:solidFill>
              <a:latin typeface="Art Nuvo"/>
              <a:ea typeface="Art Nuvo"/>
              <a:cs typeface="Art Nuvo"/>
              <a:sym typeface="Art Nuvo"/>
            </a:endParaRPr>
          </a:p>
        </p:txBody>
      </p:sp>
      <p:sp>
        <p:nvSpPr>
          <p:cNvPr id="12" name="TextBox 12"/>
          <p:cNvSpPr txBox="1"/>
          <p:nvPr/>
        </p:nvSpPr>
        <p:spPr>
          <a:xfrm>
            <a:off x="2479142" y="3099016"/>
            <a:ext cx="13329716" cy="5670316"/>
          </a:xfrm>
          <a:prstGeom prst="rect">
            <a:avLst/>
          </a:prstGeom>
        </p:spPr>
        <p:txBody>
          <a:bodyPr lIns="0" tIns="0" rIns="0" bIns="0" rtlCol="0" anchor="t">
            <a:spAutoFit/>
          </a:bodyPr>
          <a:lstStyle/>
          <a:p>
            <a:pPr algn="just">
              <a:lnSpc>
                <a:spcPts val="3040"/>
              </a:lnSpc>
            </a:pPr>
            <a:r>
              <a:rPr lang="en-US" sz="3040">
                <a:solidFill>
                  <a:srgbClr val="916542"/>
                </a:solidFill>
                <a:latin typeface="Jet"/>
                <a:ea typeface="Jet"/>
                <a:cs typeface="Jet"/>
                <a:sym typeface="Jet"/>
              </a:rPr>
              <a:t>Hak Akses Pelanggan/Pengguna</a:t>
            </a:r>
          </a:p>
          <a:p>
            <a:pPr algn="just">
              <a:lnSpc>
                <a:spcPts val="2440"/>
              </a:lnSpc>
            </a:pPr>
            <a:r>
              <a:rPr lang="en-US" sz="2440">
                <a:solidFill>
                  <a:srgbClr val="916542"/>
                </a:solidFill>
                <a:latin typeface="Jet"/>
                <a:ea typeface="Jet"/>
                <a:cs typeface="Jet"/>
                <a:sym typeface="Jet"/>
              </a:rPr>
              <a:t>Pengguna adalah calon pengantin atau siapa pun yang ingin memesan jasa dekorasi. Hak akses mereka meliputi:</a:t>
            </a:r>
          </a:p>
          <a:p>
            <a:pPr marL="526969" lvl="1" indent="-263484" algn="just">
              <a:lnSpc>
                <a:spcPts val="2440"/>
              </a:lnSpc>
              <a:buAutoNum type="arabicPeriod"/>
            </a:pPr>
            <a:r>
              <a:rPr lang="en-US" sz="2440">
                <a:solidFill>
                  <a:srgbClr val="916542"/>
                </a:solidFill>
                <a:latin typeface="Jet"/>
                <a:ea typeface="Jet"/>
                <a:cs typeface="Jet"/>
                <a:sym typeface="Jet"/>
              </a:rPr>
              <a:t>Pendaftaran dan Login</a:t>
            </a:r>
          </a:p>
          <a:p>
            <a:pPr marL="1053937" lvl="2" indent="-351312" algn="just">
              <a:lnSpc>
                <a:spcPts val="2440"/>
              </a:lnSpc>
              <a:buFont typeface="Arial"/>
              <a:buChar char="⚬"/>
            </a:pPr>
            <a:r>
              <a:rPr lang="en-US" sz="2440">
                <a:solidFill>
                  <a:srgbClr val="916542"/>
                </a:solidFill>
                <a:latin typeface="Jet"/>
                <a:ea typeface="Jet"/>
                <a:cs typeface="Jet"/>
                <a:sym typeface="Jet"/>
              </a:rPr>
              <a:t>Membuat akun pribadi.</a:t>
            </a:r>
          </a:p>
          <a:p>
            <a:pPr marL="1053937" lvl="2" indent="-351312" algn="just">
              <a:lnSpc>
                <a:spcPts val="2440"/>
              </a:lnSpc>
              <a:buFont typeface="Arial"/>
              <a:buChar char="⚬"/>
            </a:pPr>
            <a:r>
              <a:rPr lang="en-US" sz="2440">
                <a:solidFill>
                  <a:srgbClr val="916542"/>
                </a:solidFill>
                <a:latin typeface="Jet"/>
                <a:ea typeface="Jet"/>
                <a:cs typeface="Jet"/>
                <a:sym typeface="Jet"/>
              </a:rPr>
              <a:t>Mengatur profil dan preferensi pengguna.</a:t>
            </a:r>
          </a:p>
          <a:p>
            <a:pPr marL="526969" lvl="1" indent="-263484" algn="just">
              <a:lnSpc>
                <a:spcPts val="2440"/>
              </a:lnSpc>
              <a:buAutoNum type="arabicPeriod"/>
            </a:pPr>
            <a:r>
              <a:rPr lang="en-US" sz="2440">
                <a:solidFill>
                  <a:srgbClr val="916542"/>
                </a:solidFill>
                <a:latin typeface="Jet"/>
                <a:ea typeface="Jet"/>
                <a:cs typeface="Jet"/>
                <a:sym typeface="Jet"/>
              </a:rPr>
              <a:t>Browsing dan Pencarian</a:t>
            </a:r>
          </a:p>
          <a:p>
            <a:pPr marL="1053937" lvl="2" indent="-351312" algn="just">
              <a:lnSpc>
                <a:spcPts val="2440"/>
              </a:lnSpc>
              <a:buFont typeface="Arial"/>
              <a:buChar char="⚬"/>
            </a:pPr>
            <a:r>
              <a:rPr lang="en-US" sz="2440">
                <a:solidFill>
                  <a:srgbClr val="916542"/>
                </a:solidFill>
                <a:latin typeface="Jet"/>
                <a:ea typeface="Jet"/>
                <a:cs typeface="Jet"/>
                <a:sym typeface="Jet"/>
              </a:rPr>
              <a:t>Menelusuri katalog dekorasi berdasarkan tema, lokasi, harga, atau rating vendor.</a:t>
            </a:r>
          </a:p>
          <a:p>
            <a:pPr marL="526969" lvl="1" indent="-263484" algn="just">
              <a:lnSpc>
                <a:spcPts val="2440"/>
              </a:lnSpc>
              <a:buAutoNum type="arabicPeriod"/>
            </a:pPr>
            <a:r>
              <a:rPr lang="en-US" sz="2440">
                <a:solidFill>
                  <a:srgbClr val="916542"/>
                </a:solidFill>
                <a:latin typeface="Jet"/>
                <a:ea typeface="Jet"/>
                <a:cs typeface="Jet"/>
                <a:sym typeface="Jet"/>
              </a:rPr>
              <a:t>Booking dan Pembayaran</a:t>
            </a:r>
          </a:p>
          <a:p>
            <a:pPr marL="1053937" lvl="2" indent="-351312" algn="just">
              <a:lnSpc>
                <a:spcPts val="2440"/>
              </a:lnSpc>
              <a:buFont typeface="Arial"/>
              <a:buChar char="⚬"/>
            </a:pPr>
            <a:r>
              <a:rPr lang="en-US" sz="2440">
                <a:solidFill>
                  <a:srgbClr val="916542"/>
                </a:solidFill>
                <a:latin typeface="Jet"/>
                <a:ea typeface="Jet"/>
                <a:cs typeface="Jet"/>
                <a:sym typeface="Jet"/>
              </a:rPr>
              <a:t>Melakukan pemesanan jasa dekorasi secara online.</a:t>
            </a:r>
          </a:p>
          <a:p>
            <a:pPr marL="1053937" lvl="2" indent="-351312" algn="just">
              <a:lnSpc>
                <a:spcPts val="2440"/>
              </a:lnSpc>
              <a:buFont typeface="Arial"/>
              <a:buChar char="⚬"/>
            </a:pPr>
            <a:r>
              <a:rPr lang="en-US" sz="2440">
                <a:solidFill>
                  <a:srgbClr val="916542"/>
                </a:solidFill>
                <a:latin typeface="Jet"/>
                <a:ea typeface="Jet"/>
                <a:cs typeface="Jet"/>
                <a:sym typeface="Jet"/>
              </a:rPr>
              <a:t>Melihat status booking, riwayat pesanan, dan melakukan pembayaran.</a:t>
            </a:r>
          </a:p>
          <a:p>
            <a:pPr marL="526969" lvl="1" indent="-263484" algn="just">
              <a:lnSpc>
                <a:spcPts val="2440"/>
              </a:lnSpc>
              <a:buAutoNum type="arabicPeriod"/>
            </a:pPr>
            <a:r>
              <a:rPr lang="en-US" sz="2440">
                <a:solidFill>
                  <a:srgbClr val="916542"/>
                </a:solidFill>
                <a:latin typeface="Jet"/>
                <a:ea typeface="Jet"/>
                <a:cs typeface="Jet"/>
                <a:sym typeface="Jet"/>
              </a:rPr>
              <a:t>Review dan Rating</a:t>
            </a:r>
          </a:p>
          <a:p>
            <a:pPr marL="1053937" lvl="2" indent="-351312" algn="just">
              <a:lnSpc>
                <a:spcPts val="2440"/>
              </a:lnSpc>
              <a:buFont typeface="Arial"/>
              <a:buChar char="⚬"/>
            </a:pPr>
            <a:r>
              <a:rPr lang="en-US" sz="2440">
                <a:solidFill>
                  <a:srgbClr val="916542"/>
                </a:solidFill>
                <a:latin typeface="Jet"/>
                <a:ea typeface="Jet"/>
                <a:cs typeface="Jet"/>
                <a:sym typeface="Jet"/>
              </a:rPr>
              <a:t>Memberikan ulasan serta rating terhadap vendor setelah layanan selesai.</a:t>
            </a:r>
          </a:p>
          <a:p>
            <a:pPr marL="526969" lvl="1" indent="-263484" algn="just">
              <a:lnSpc>
                <a:spcPts val="2440"/>
              </a:lnSpc>
              <a:buAutoNum type="arabicPeriod"/>
            </a:pPr>
            <a:r>
              <a:rPr lang="en-US" sz="2440">
                <a:solidFill>
                  <a:srgbClr val="916542"/>
                </a:solidFill>
                <a:latin typeface="Jet"/>
                <a:ea typeface="Jet"/>
                <a:cs typeface="Jet"/>
                <a:sym typeface="Jet"/>
              </a:rPr>
              <a:t>Notifikasi dan Komunikasi</a:t>
            </a:r>
          </a:p>
          <a:p>
            <a:pPr marL="1053937" lvl="2" indent="-351312" algn="just">
              <a:lnSpc>
                <a:spcPts val="2440"/>
              </a:lnSpc>
              <a:buFont typeface="Arial"/>
              <a:buChar char="⚬"/>
            </a:pPr>
            <a:r>
              <a:rPr lang="en-US" sz="2440">
                <a:solidFill>
                  <a:srgbClr val="916542"/>
                </a:solidFill>
                <a:latin typeface="Jet"/>
                <a:ea typeface="Jet"/>
                <a:cs typeface="Jet"/>
                <a:sym typeface="Jet"/>
              </a:rPr>
              <a:t>Menerima notifikasi mengenai status pemesanan dan promo.</a:t>
            </a:r>
          </a:p>
          <a:p>
            <a:pPr marL="1053937" lvl="2" indent="-351312" algn="just">
              <a:lnSpc>
                <a:spcPts val="2440"/>
              </a:lnSpc>
              <a:buFont typeface="Arial"/>
              <a:buChar char="⚬"/>
            </a:pPr>
            <a:r>
              <a:rPr lang="en-US" sz="2440">
                <a:solidFill>
                  <a:srgbClr val="916542"/>
                </a:solidFill>
                <a:latin typeface="Jet"/>
                <a:ea typeface="Jet"/>
                <a:cs typeface="Jet"/>
                <a:sym typeface="Jet"/>
              </a:rPr>
              <a:t>Menghubungi vendor melalui chat atau formulir komunikasi yang tersedia.</a:t>
            </a:r>
          </a:p>
          <a:p>
            <a:pPr algn="just">
              <a:lnSpc>
                <a:spcPts val="2740"/>
              </a:lnSpc>
            </a:pPr>
            <a:endParaRPr lang="en-US" sz="2440">
              <a:solidFill>
                <a:srgbClr val="916542"/>
              </a:solidFill>
              <a:latin typeface="Jet"/>
              <a:ea typeface="Jet"/>
              <a:cs typeface="Jet"/>
              <a:sym typeface="Jet"/>
            </a:endParaRPr>
          </a:p>
          <a:p>
            <a:pPr algn="just">
              <a:lnSpc>
                <a:spcPts val="2440"/>
              </a:lnSpc>
            </a:pPr>
            <a:endParaRPr lang="en-US" sz="2440">
              <a:solidFill>
                <a:srgbClr val="916542"/>
              </a:solidFill>
              <a:latin typeface="Jet"/>
              <a:ea typeface="Jet"/>
              <a:cs typeface="Jet"/>
              <a:sym typeface="Jet"/>
            </a:endParaRPr>
          </a:p>
        </p:txBody>
      </p:sp>
      <p:sp>
        <p:nvSpPr>
          <p:cNvPr id="13" name="TextBox 13"/>
          <p:cNvSpPr txBox="1"/>
          <p:nvPr/>
        </p:nvSpPr>
        <p:spPr>
          <a:xfrm>
            <a:off x="864949" y="2560550"/>
            <a:ext cx="16558102" cy="361485"/>
          </a:xfrm>
          <a:prstGeom prst="rect">
            <a:avLst/>
          </a:prstGeom>
        </p:spPr>
        <p:txBody>
          <a:bodyPr lIns="0" tIns="0" rIns="0" bIns="0" rtlCol="0" anchor="t">
            <a:spAutoFit/>
          </a:bodyPr>
          <a:lstStyle/>
          <a:p>
            <a:pPr algn="ctr">
              <a:lnSpc>
                <a:spcPts val="3131"/>
              </a:lnSpc>
            </a:pPr>
            <a:r>
              <a:rPr lang="en-US" sz="4014">
                <a:solidFill>
                  <a:srgbClr val="916542"/>
                </a:solidFill>
                <a:latin typeface="Art Nuvo"/>
                <a:ea typeface="Art Nuvo"/>
                <a:cs typeface="Art Nuvo"/>
                <a:sym typeface="Art Nuvo"/>
              </a:rPr>
              <a:t>Dalam website ini, hak akses dibagi menjadi dua jenis pengguna, yaitu:</a:t>
            </a:r>
          </a:p>
          <a:p>
            <a:pPr algn="ctr">
              <a:lnSpc>
                <a:spcPts val="58"/>
              </a:lnSpc>
            </a:pPr>
            <a:endParaRPr lang="en-US" sz="4014">
              <a:solidFill>
                <a:srgbClr val="916542"/>
              </a:solidFill>
              <a:latin typeface="Art Nuvo"/>
              <a:ea typeface="Art Nuvo"/>
              <a:cs typeface="Art Nuvo"/>
              <a:sym typeface="Art Nuv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Freeform 11"/>
          <p:cNvSpPr/>
          <p:nvPr/>
        </p:nvSpPr>
        <p:spPr>
          <a:xfrm rot="740362">
            <a:off x="1719700" y="3009800"/>
            <a:ext cx="2693849" cy="4120611"/>
          </a:xfrm>
          <a:custGeom>
            <a:avLst/>
            <a:gdLst/>
            <a:ahLst/>
            <a:cxnLst/>
            <a:rect l="l" t="t" r="r" b="b"/>
            <a:pathLst>
              <a:path w="2693849" h="4120611">
                <a:moveTo>
                  <a:pt x="0" y="0"/>
                </a:moveTo>
                <a:lnTo>
                  <a:pt x="2693849" y="0"/>
                </a:lnTo>
                <a:lnTo>
                  <a:pt x="2693849" y="4120610"/>
                </a:lnTo>
                <a:lnTo>
                  <a:pt x="0" y="4120610"/>
                </a:lnTo>
                <a:lnTo>
                  <a:pt x="0" y="0"/>
                </a:lnTo>
                <a:close/>
              </a:path>
            </a:pathLst>
          </a:custGeom>
          <a:blipFill>
            <a:blip r:embed="rId6"/>
            <a:stretch>
              <a:fillRect/>
            </a:stretch>
          </a:blipFill>
        </p:spPr>
      </p:sp>
      <p:sp>
        <p:nvSpPr>
          <p:cNvPr id="12" name="TextBox 12"/>
          <p:cNvSpPr txBox="1"/>
          <p:nvPr/>
        </p:nvSpPr>
        <p:spPr>
          <a:xfrm>
            <a:off x="3545570" y="1304427"/>
            <a:ext cx="11196860" cy="2002912"/>
          </a:xfrm>
          <a:prstGeom prst="rect">
            <a:avLst/>
          </a:prstGeom>
        </p:spPr>
        <p:txBody>
          <a:bodyPr lIns="0" tIns="0" rIns="0" bIns="0" rtlCol="0" anchor="t">
            <a:spAutoFit/>
          </a:bodyPr>
          <a:lstStyle/>
          <a:p>
            <a:pPr algn="ctr">
              <a:lnSpc>
                <a:spcPts val="7421"/>
              </a:lnSpc>
            </a:pPr>
            <a:r>
              <a:rPr lang="en-US" sz="9514">
                <a:solidFill>
                  <a:srgbClr val="916542"/>
                </a:solidFill>
                <a:latin typeface="Art Nuvo"/>
                <a:ea typeface="Art Nuvo"/>
                <a:cs typeface="Art Nuvo"/>
                <a:sym typeface="Art Nuvo"/>
              </a:rPr>
              <a:t>FITUR FITUR UTAMA</a:t>
            </a:r>
          </a:p>
          <a:p>
            <a:pPr algn="ctr">
              <a:lnSpc>
                <a:spcPts val="7421"/>
              </a:lnSpc>
            </a:pPr>
            <a:endParaRPr lang="en-US" sz="9514">
              <a:solidFill>
                <a:srgbClr val="916542"/>
              </a:solidFill>
              <a:latin typeface="Art Nuvo"/>
              <a:ea typeface="Art Nuvo"/>
              <a:cs typeface="Art Nuvo"/>
              <a:sym typeface="Art Nuvo"/>
            </a:endParaRPr>
          </a:p>
        </p:txBody>
      </p:sp>
      <p:sp>
        <p:nvSpPr>
          <p:cNvPr id="13" name="TextBox 13"/>
          <p:cNvSpPr txBox="1"/>
          <p:nvPr/>
        </p:nvSpPr>
        <p:spPr>
          <a:xfrm>
            <a:off x="4402394" y="2280615"/>
            <a:ext cx="10942971" cy="6895193"/>
          </a:xfrm>
          <a:prstGeom prst="rect">
            <a:avLst/>
          </a:prstGeom>
        </p:spPr>
        <p:txBody>
          <a:bodyPr lIns="0" tIns="0" rIns="0" bIns="0" rtlCol="0" anchor="t">
            <a:spAutoFit/>
          </a:bodyPr>
          <a:lstStyle/>
          <a:p>
            <a:pPr algn="just">
              <a:lnSpc>
                <a:spcPts val="2512"/>
              </a:lnSpc>
            </a:pPr>
            <a:r>
              <a:rPr lang="en-US" sz="2512">
                <a:solidFill>
                  <a:srgbClr val="916542"/>
                </a:solidFill>
                <a:latin typeface="Jet"/>
                <a:ea typeface="Jet"/>
                <a:cs typeface="Jet"/>
                <a:sym typeface="Jet"/>
              </a:rPr>
              <a:t>Fitur Utama untuk Admin</a:t>
            </a:r>
          </a:p>
          <a:p>
            <a:pPr marL="542476" lvl="1" indent="-271238" algn="just">
              <a:lnSpc>
                <a:spcPts val="2512"/>
              </a:lnSpc>
              <a:buAutoNum type="arabicPeriod"/>
            </a:pPr>
            <a:r>
              <a:rPr lang="en-US" sz="2512">
                <a:solidFill>
                  <a:srgbClr val="916542"/>
                </a:solidFill>
                <a:latin typeface="Jet"/>
                <a:ea typeface="Jet"/>
                <a:cs typeface="Jet"/>
                <a:sym typeface="Jet"/>
              </a:rPr>
              <a:t>Dashboard Admin</a:t>
            </a:r>
          </a:p>
          <a:p>
            <a:pPr marL="1084953" lvl="2" indent="-361651" algn="just">
              <a:lnSpc>
                <a:spcPts val="2512"/>
              </a:lnSpc>
              <a:buFont typeface="Arial"/>
              <a:buChar char="⚬"/>
            </a:pPr>
            <a:r>
              <a:rPr lang="en-US" sz="2512">
                <a:solidFill>
                  <a:srgbClr val="916542"/>
                </a:solidFill>
                <a:latin typeface="Jet"/>
                <a:ea typeface="Jet"/>
                <a:cs typeface="Jet"/>
                <a:sym typeface="Jet"/>
              </a:rPr>
              <a:t>Statistik booking, transaksi, pengguna aktif, dan performa vendor.</a:t>
            </a:r>
          </a:p>
          <a:p>
            <a:pPr marL="542476" lvl="1" indent="-271238" algn="just">
              <a:lnSpc>
                <a:spcPts val="2512"/>
              </a:lnSpc>
              <a:buAutoNum type="arabicPeriod"/>
            </a:pPr>
            <a:r>
              <a:rPr lang="en-US" sz="2512">
                <a:solidFill>
                  <a:srgbClr val="916542"/>
                </a:solidFill>
                <a:latin typeface="Jet"/>
                <a:ea typeface="Jet"/>
                <a:cs typeface="Jet"/>
                <a:sym typeface="Jet"/>
              </a:rPr>
              <a:t>Manajemen Vendor</a:t>
            </a:r>
          </a:p>
          <a:p>
            <a:pPr marL="1084953" lvl="2" indent="-361651" algn="just">
              <a:lnSpc>
                <a:spcPts val="2512"/>
              </a:lnSpc>
              <a:buFont typeface="Arial"/>
              <a:buChar char="⚬"/>
            </a:pPr>
            <a:r>
              <a:rPr lang="en-US" sz="2512">
                <a:solidFill>
                  <a:srgbClr val="916542"/>
                </a:solidFill>
                <a:latin typeface="Jet"/>
                <a:ea typeface="Jet"/>
                <a:cs typeface="Jet"/>
                <a:sym typeface="Jet"/>
              </a:rPr>
              <a:t>Tambah/edit/hapus profil vendor.</a:t>
            </a:r>
          </a:p>
          <a:p>
            <a:pPr marL="1084953" lvl="2" indent="-361651" algn="just">
              <a:lnSpc>
                <a:spcPts val="2512"/>
              </a:lnSpc>
              <a:buFont typeface="Arial"/>
              <a:buChar char="⚬"/>
            </a:pPr>
            <a:r>
              <a:rPr lang="en-US" sz="2512">
                <a:solidFill>
                  <a:srgbClr val="916542"/>
                </a:solidFill>
                <a:latin typeface="Jet"/>
                <a:ea typeface="Jet"/>
                <a:cs typeface="Jet"/>
                <a:sym typeface="Jet"/>
              </a:rPr>
              <a:t>Verifikasi legalitas dan kualitas portofolio vendor.</a:t>
            </a:r>
          </a:p>
          <a:p>
            <a:pPr marL="542476" lvl="1" indent="-271238" algn="just">
              <a:lnSpc>
                <a:spcPts val="2512"/>
              </a:lnSpc>
              <a:buAutoNum type="arabicPeriod"/>
            </a:pPr>
            <a:r>
              <a:rPr lang="en-US" sz="2512">
                <a:solidFill>
                  <a:srgbClr val="916542"/>
                </a:solidFill>
                <a:latin typeface="Jet"/>
                <a:ea typeface="Jet"/>
                <a:cs typeface="Jet"/>
                <a:sym typeface="Jet"/>
              </a:rPr>
              <a:t>Manajemen Pelanggan</a:t>
            </a:r>
          </a:p>
          <a:p>
            <a:pPr marL="1084953" lvl="2" indent="-361651" algn="just">
              <a:lnSpc>
                <a:spcPts val="2512"/>
              </a:lnSpc>
              <a:buFont typeface="Arial"/>
              <a:buChar char="⚬"/>
            </a:pPr>
            <a:r>
              <a:rPr lang="en-US" sz="2512">
                <a:solidFill>
                  <a:srgbClr val="916542"/>
                </a:solidFill>
                <a:latin typeface="Jet"/>
                <a:ea typeface="Jet"/>
                <a:cs typeface="Jet"/>
                <a:sym typeface="Jet"/>
              </a:rPr>
              <a:t>Akses data pengguna dan histori pemesanan.</a:t>
            </a:r>
          </a:p>
          <a:p>
            <a:pPr marL="542476" lvl="1" indent="-271238" algn="just">
              <a:lnSpc>
                <a:spcPts val="2512"/>
              </a:lnSpc>
              <a:buAutoNum type="arabicPeriod"/>
            </a:pPr>
            <a:r>
              <a:rPr lang="en-US" sz="2512">
                <a:solidFill>
                  <a:srgbClr val="916542"/>
                </a:solidFill>
                <a:latin typeface="Jet"/>
                <a:ea typeface="Jet"/>
                <a:cs typeface="Jet"/>
                <a:sym typeface="Jet"/>
              </a:rPr>
              <a:t>Manajemen Booking</a:t>
            </a:r>
          </a:p>
          <a:p>
            <a:pPr marL="1084953" lvl="2" indent="-361651" algn="just">
              <a:lnSpc>
                <a:spcPts val="2512"/>
              </a:lnSpc>
              <a:buFont typeface="Arial"/>
              <a:buChar char="⚬"/>
            </a:pPr>
            <a:r>
              <a:rPr lang="en-US" sz="2512">
                <a:solidFill>
                  <a:srgbClr val="916542"/>
                </a:solidFill>
                <a:latin typeface="Jet"/>
                <a:ea typeface="Jet"/>
                <a:cs typeface="Jet"/>
                <a:sym typeface="Jet"/>
              </a:rPr>
              <a:t>Lihat semua pemesanan, status pembayaran, dan konfirmasi layanan.</a:t>
            </a:r>
          </a:p>
          <a:p>
            <a:pPr marL="542476" lvl="1" indent="-271238" algn="just">
              <a:lnSpc>
                <a:spcPts val="2512"/>
              </a:lnSpc>
              <a:buAutoNum type="arabicPeriod"/>
            </a:pPr>
            <a:r>
              <a:rPr lang="en-US" sz="2512">
                <a:solidFill>
                  <a:srgbClr val="916542"/>
                </a:solidFill>
                <a:latin typeface="Jet"/>
                <a:ea typeface="Jet"/>
                <a:cs typeface="Jet"/>
                <a:sym typeface="Jet"/>
              </a:rPr>
              <a:t>Manajemen Konten</a:t>
            </a:r>
          </a:p>
          <a:p>
            <a:pPr marL="1084953" lvl="2" indent="-361651" algn="just">
              <a:lnSpc>
                <a:spcPts val="2512"/>
              </a:lnSpc>
              <a:buFont typeface="Arial"/>
              <a:buChar char="⚬"/>
            </a:pPr>
            <a:r>
              <a:rPr lang="en-US" sz="2512">
                <a:solidFill>
                  <a:srgbClr val="916542"/>
                </a:solidFill>
                <a:latin typeface="Jet"/>
                <a:ea typeface="Jet"/>
                <a:cs typeface="Jet"/>
                <a:sym typeface="Jet"/>
              </a:rPr>
              <a:t>Update halaman depan, artikel, galeri, promo, dan banner.</a:t>
            </a:r>
          </a:p>
          <a:p>
            <a:pPr marL="542476" lvl="1" indent="-271238" algn="just">
              <a:lnSpc>
                <a:spcPts val="2512"/>
              </a:lnSpc>
              <a:buAutoNum type="arabicPeriod"/>
            </a:pPr>
            <a:r>
              <a:rPr lang="en-US" sz="2512">
                <a:solidFill>
                  <a:srgbClr val="916542"/>
                </a:solidFill>
                <a:latin typeface="Jet"/>
                <a:ea typeface="Jet"/>
                <a:cs typeface="Jet"/>
                <a:sym typeface="Jet"/>
              </a:rPr>
              <a:t>Pengaturan Pembayaran</a:t>
            </a:r>
          </a:p>
          <a:p>
            <a:pPr marL="1084953" lvl="2" indent="-361651" algn="just">
              <a:lnSpc>
                <a:spcPts val="2512"/>
              </a:lnSpc>
              <a:buFont typeface="Arial"/>
              <a:buChar char="⚬"/>
            </a:pPr>
            <a:r>
              <a:rPr lang="en-US" sz="2512">
                <a:solidFill>
                  <a:srgbClr val="916542"/>
                </a:solidFill>
                <a:latin typeface="Jet"/>
                <a:ea typeface="Jet"/>
                <a:cs typeface="Jet"/>
                <a:sym typeface="Jet"/>
              </a:rPr>
              <a:t>Integrasi dengan payment gateway.</a:t>
            </a:r>
          </a:p>
          <a:p>
            <a:pPr marL="1084953" lvl="2" indent="-361651" algn="just">
              <a:lnSpc>
                <a:spcPts val="2512"/>
              </a:lnSpc>
              <a:buFont typeface="Arial"/>
              <a:buChar char="⚬"/>
            </a:pPr>
            <a:r>
              <a:rPr lang="en-US" sz="2512">
                <a:solidFill>
                  <a:srgbClr val="916542"/>
                </a:solidFill>
                <a:latin typeface="Jet"/>
                <a:ea typeface="Jet"/>
                <a:cs typeface="Jet"/>
                <a:sym typeface="Jet"/>
              </a:rPr>
              <a:t>Konfirmasi manual untuk pembayaran transfer bank.</a:t>
            </a:r>
          </a:p>
          <a:p>
            <a:pPr marL="542476" lvl="1" indent="-271238" algn="just">
              <a:lnSpc>
                <a:spcPts val="2512"/>
              </a:lnSpc>
              <a:buAutoNum type="arabicPeriod"/>
            </a:pPr>
            <a:r>
              <a:rPr lang="en-US" sz="2512">
                <a:solidFill>
                  <a:srgbClr val="916542"/>
                </a:solidFill>
                <a:latin typeface="Jet"/>
                <a:ea typeface="Jet"/>
                <a:cs typeface="Jet"/>
                <a:sym typeface="Jet"/>
              </a:rPr>
              <a:t>Laporan dan Analitik</a:t>
            </a:r>
          </a:p>
          <a:p>
            <a:pPr marL="1084953" lvl="2" indent="-361651" algn="just">
              <a:lnSpc>
                <a:spcPts val="2512"/>
              </a:lnSpc>
              <a:buFont typeface="Arial"/>
              <a:buChar char="⚬"/>
            </a:pPr>
            <a:r>
              <a:rPr lang="en-US" sz="2512">
                <a:solidFill>
                  <a:srgbClr val="916542"/>
                </a:solidFill>
                <a:latin typeface="Jet"/>
                <a:ea typeface="Jet"/>
                <a:cs typeface="Jet"/>
                <a:sym typeface="Jet"/>
              </a:rPr>
              <a:t>Laporan pendapatan, performa vendor, traffic pengguna, dan tren booking.</a:t>
            </a:r>
          </a:p>
          <a:p>
            <a:pPr marL="542476" lvl="1" indent="-271238" algn="just">
              <a:lnSpc>
                <a:spcPts val="2512"/>
              </a:lnSpc>
              <a:buAutoNum type="arabicPeriod"/>
            </a:pPr>
            <a:r>
              <a:rPr lang="en-US" sz="2512">
                <a:solidFill>
                  <a:srgbClr val="916542"/>
                </a:solidFill>
                <a:latin typeface="Jet"/>
                <a:ea typeface="Jet"/>
                <a:cs typeface="Jet"/>
                <a:sym typeface="Jet"/>
              </a:rPr>
              <a:t>Notifikasi &amp; Email Otomatis</a:t>
            </a:r>
          </a:p>
          <a:p>
            <a:pPr marL="1084953" lvl="2" indent="-361651" algn="just">
              <a:lnSpc>
                <a:spcPts val="2512"/>
              </a:lnSpc>
              <a:buFont typeface="Arial"/>
              <a:buChar char="⚬"/>
            </a:pPr>
            <a:r>
              <a:rPr lang="en-US" sz="2512">
                <a:solidFill>
                  <a:srgbClr val="916542"/>
                </a:solidFill>
                <a:latin typeface="Jet"/>
                <a:ea typeface="Jet"/>
                <a:cs typeface="Jet"/>
                <a:sym typeface="Jet"/>
              </a:rPr>
              <a:t>Kirim notifikasi tentang booking, promo, atau pengingat pembayaran.</a:t>
            </a:r>
          </a:p>
          <a:p>
            <a:pPr algn="just">
              <a:lnSpc>
                <a:spcPts val="1915"/>
              </a:lnSpc>
            </a:pPr>
            <a:endParaRPr lang="en-US" sz="2512">
              <a:solidFill>
                <a:srgbClr val="916542"/>
              </a:solidFill>
              <a:latin typeface="Jet"/>
              <a:ea typeface="Jet"/>
              <a:cs typeface="Jet"/>
              <a:sym typeface="Je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Freeform 11"/>
          <p:cNvSpPr/>
          <p:nvPr/>
        </p:nvSpPr>
        <p:spPr>
          <a:xfrm rot="740362">
            <a:off x="1719700" y="3009800"/>
            <a:ext cx="2693849" cy="4120611"/>
          </a:xfrm>
          <a:custGeom>
            <a:avLst/>
            <a:gdLst/>
            <a:ahLst/>
            <a:cxnLst/>
            <a:rect l="l" t="t" r="r" b="b"/>
            <a:pathLst>
              <a:path w="2693849" h="4120611">
                <a:moveTo>
                  <a:pt x="0" y="0"/>
                </a:moveTo>
                <a:lnTo>
                  <a:pt x="2693849" y="0"/>
                </a:lnTo>
                <a:lnTo>
                  <a:pt x="2693849" y="4120610"/>
                </a:lnTo>
                <a:lnTo>
                  <a:pt x="0" y="4120610"/>
                </a:lnTo>
                <a:lnTo>
                  <a:pt x="0" y="0"/>
                </a:lnTo>
                <a:close/>
              </a:path>
            </a:pathLst>
          </a:custGeom>
          <a:blipFill>
            <a:blip r:embed="rId6"/>
            <a:stretch>
              <a:fillRect/>
            </a:stretch>
          </a:blipFill>
        </p:spPr>
      </p:sp>
      <p:sp>
        <p:nvSpPr>
          <p:cNvPr id="12" name="TextBox 12"/>
          <p:cNvSpPr txBox="1"/>
          <p:nvPr/>
        </p:nvSpPr>
        <p:spPr>
          <a:xfrm>
            <a:off x="3545570" y="1285377"/>
            <a:ext cx="11196860" cy="1924432"/>
          </a:xfrm>
          <a:prstGeom prst="rect">
            <a:avLst/>
          </a:prstGeom>
        </p:spPr>
        <p:txBody>
          <a:bodyPr lIns="0" tIns="0" rIns="0" bIns="0" rtlCol="0" anchor="t">
            <a:spAutoFit/>
          </a:bodyPr>
          <a:lstStyle/>
          <a:p>
            <a:pPr algn="ctr">
              <a:lnSpc>
                <a:spcPts val="7109"/>
              </a:lnSpc>
            </a:pPr>
            <a:r>
              <a:rPr lang="en-US" sz="9114">
                <a:solidFill>
                  <a:srgbClr val="916542"/>
                </a:solidFill>
                <a:latin typeface="Art Nuvo"/>
                <a:ea typeface="Art Nuvo"/>
                <a:cs typeface="Art Nuvo"/>
                <a:sym typeface="Art Nuvo"/>
              </a:rPr>
              <a:t>FITUR FITUR UTAMA</a:t>
            </a:r>
          </a:p>
          <a:p>
            <a:pPr algn="ctr">
              <a:lnSpc>
                <a:spcPts val="7109"/>
              </a:lnSpc>
            </a:pPr>
            <a:endParaRPr lang="en-US" sz="9114">
              <a:solidFill>
                <a:srgbClr val="916542"/>
              </a:solidFill>
              <a:latin typeface="Art Nuvo"/>
              <a:ea typeface="Art Nuvo"/>
              <a:cs typeface="Art Nuvo"/>
              <a:sym typeface="Art Nuvo"/>
            </a:endParaRPr>
          </a:p>
        </p:txBody>
      </p:sp>
      <p:sp>
        <p:nvSpPr>
          <p:cNvPr id="13" name="TextBox 13"/>
          <p:cNvSpPr txBox="1"/>
          <p:nvPr/>
        </p:nvSpPr>
        <p:spPr>
          <a:xfrm>
            <a:off x="4358148" y="2042102"/>
            <a:ext cx="10942971" cy="7607621"/>
          </a:xfrm>
          <a:prstGeom prst="rect">
            <a:avLst/>
          </a:prstGeom>
        </p:spPr>
        <p:txBody>
          <a:bodyPr lIns="0" tIns="0" rIns="0" bIns="0" rtlCol="0" anchor="t">
            <a:spAutoFit/>
          </a:bodyPr>
          <a:lstStyle/>
          <a:p>
            <a:pPr algn="just">
              <a:lnSpc>
                <a:spcPts val="2512"/>
              </a:lnSpc>
            </a:pPr>
            <a:r>
              <a:rPr lang="en-US" sz="2512">
                <a:solidFill>
                  <a:srgbClr val="916542"/>
                </a:solidFill>
                <a:latin typeface="Jet"/>
                <a:ea typeface="Jet"/>
                <a:cs typeface="Jet"/>
                <a:sym typeface="Jet"/>
              </a:rPr>
              <a:t>Fitur Utama untuk Pengguna / Pelanggan</a:t>
            </a:r>
          </a:p>
          <a:p>
            <a:pPr marL="542476" lvl="1" indent="-271238" algn="just">
              <a:lnSpc>
                <a:spcPts val="2512"/>
              </a:lnSpc>
              <a:buAutoNum type="arabicPeriod"/>
            </a:pPr>
            <a:r>
              <a:rPr lang="en-US" sz="2512">
                <a:solidFill>
                  <a:srgbClr val="916542"/>
                </a:solidFill>
                <a:latin typeface="Jet"/>
                <a:ea typeface="Jet"/>
                <a:cs typeface="Jet"/>
                <a:sym typeface="Jet"/>
              </a:rPr>
              <a:t>Registrasi &amp; Login Pengguna</a:t>
            </a:r>
          </a:p>
          <a:p>
            <a:pPr marL="1084953" lvl="2" indent="-361651" algn="just">
              <a:lnSpc>
                <a:spcPts val="2512"/>
              </a:lnSpc>
              <a:buFont typeface="Arial"/>
              <a:buChar char="⚬"/>
            </a:pPr>
            <a:r>
              <a:rPr lang="en-US" sz="2512">
                <a:solidFill>
                  <a:srgbClr val="916542"/>
                </a:solidFill>
                <a:latin typeface="Jet"/>
                <a:ea typeface="Jet"/>
                <a:cs typeface="Jet"/>
                <a:sym typeface="Jet"/>
              </a:rPr>
              <a:t>Buat akun, login, dan edit profil pribadi.</a:t>
            </a:r>
          </a:p>
          <a:p>
            <a:pPr marL="542476" lvl="1" indent="-271238" algn="just">
              <a:lnSpc>
                <a:spcPts val="2512"/>
              </a:lnSpc>
              <a:buAutoNum type="arabicPeriod"/>
            </a:pPr>
            <a:r>
              <a:rPr lang="en-US" sz="2512">
                <a:solidFill>
                  <a:srgbClr val="916542"/>
                </a:solidFill>
                <a:latin typeface="Jet"/>
                <a:ea typeface="Jet"/>
                <a:cs typeface="Jet"/>
                <a:sym typeface="Jet"/>
              </a:rPr>
              <a:t>Pencarian &amp; Filter Vendor</a:t>
            </a:r>
          </a:p>
          <a:p>
            <a:pPr marL="1084953" lvl="2" indent="-361651" algn="just">
              <a:lnSpc>
                <a:spcPts val="2512"/>
              </a:lnSpc>
              <a:buFont typeface="Arial"/>
              <a:buChar char="⚬"/>
            </a:pPr>
            <a:r>
              <a:rPr lang="en-US" sz="2512">
                <a:solidFill>
                  <a:srgbClr val="916542"/>
                </a:solidFill>
                <a:latin typeface="Jet"/>
                <a:ea typeface="Jet"/>
                <a:cs typeface="Jet"/>
                <a:sym typeface="Jet"/>
              </a:rPr>
              <a:t>Filter berdasarkan tema, lokasi, harga, rating, dan ketersediaan tanggal.</a:t>
            </a:r>
          </a:p>
          <a:p>
            <a:pPr marL="542476" lvl="1" indent="-271238" algn="just">
              <a:lnSpc>
                <a:spcPts val="2512"/>
              </a:lnSpc>
              <a:buAutoNum type="arabicPeriod"/>
            </a:pPr>
            <a:r>
              <a:rPr lang="en-US" sz="2512">
                <a:solidFill>
                  <a:srgbClr val="916542"/>
                </a:solidFill>
                <a:latin typeface="Jet"/>
                <a:ea typeface="Jet"/>
                <a:cs typeface="Jet"/>
                <a:sym typeface="Jet"/>
              </a:rPr>
              <a:t>Detail Vendor &amp; Portofolio</a:t>
            </a:r>
          </a:p>
          <a:p>
            <a:pPr marL="1084953" lvl="2" indent="-361651" algn="just">
              <a:lnSpc>
                <a:spcPts val="2512"/>
              </a:lnSpc>
              <a:buFont typeface="Arial"/>
              <a:buChar char="⚬"/>
            </a:pPr>
            <a:r>
              <a:rPr lang="en-US" sz="2512">
                <a:solidFill>
                  <a:srgbClr val="916542"/>
                </a:solidFill>
                <a:latin typeface="Jet"/>
                <a:ea typeface="Jet"/>
                <a:cs typeface="Jet"/>
                <a:sym typeface="Jet"/>
              </a:rPr>
              <a:t>Lihat foto hasil dekorasi, ulasan pelanggan, dan deskripsi layanan.</a:t>
            </a:r>
          </a:p>
          <a:p>
            <a:pPr marL="542476" lvl="1" indent="-271238" algn="just">
              <a:lnSpc>
                <a:spcPts val="2512"/>
              </a:lnSpc>
              <a:buAutoNum type="arabicPeriod"/>
            </a:pPr>
            <a:r>
              <a:rPr lang="en-US" sz="2512">
                <a:solidFill>
                  <a:srgbClr val="916542"/>
                </a:solidFill>
                <a:latin typeface="Jet"/>
                <a:ea typeface="Jet"/>
                <a:cs typeface="Jet"/>
                <a:sym typeface="Jet"/>
              </a:rPr>
              <a:t>Booking Online</a:t>
            </a:r>
          </a:p>
          <a:p>
            <a:pPr marL="1084953" lvl="2" indent="-361651" algn="just">
              <a:lnSpc>
                <a:spcPts val="2512"/>
              </a:lnSpc>
              <a:buFont typeface="Arial"/>
              <a:buChar char="⚬"/>
            </a:pPr>
            <a:r>
              <a:rPr lang="en-US" sz="2512">
                <a:solidFill>
                  <a:srgbClr val="916542"/>
                </a:solidFill>
                <a:latin typeface="Jet"/>
                <a:ea typeface="Jet"/>
                <a:cs typeface="Jet"/>
                <a:sym typeface="Jet"/>
              </a:rPr>
              <a:t>Pilih paket, pilih tanggal, dan lakukan pemesanan langsung.</a:t>
            </a:r>
          </a:p>
          <a:p>
            <a:pPr marL="542476" lvl="1" indent="-271238" algn="just">
              <a:lnSpc>
                <a:spcPts val="2512"/>
              </a:lnSpc>
              <a:buAutoNum type="arabicPeriod"/>
            </a:pPr>
            <a:r>
              <a:rPr lang="en-US" sz="2512">
                <a:solidFill>
                  <a:srgbClr val="916542"/>
                </a:solidFill>
                <a:latin typeface="Jet"/>
                <a:ea typeface="Jet"/>
                <a:cs typeface="Jet"/>
                <a:sym typeface="Jet"/>
              </a:rPr>
              <a:t>Pembayaran Online</a:t>
            </a:r>
          </a:p>
          <a:p>
            <a:pPr marL="1084953" lvl="2" indent="-361651" algn="just">
              <a:lnSpc>
                <a:spcPts val="2512"/>
              </a:lnSpc>
              <a:buFont typeface="Arial"/>
              <a:buChar char="⚬"/>
            </a:pPr>
            <a:r>
              <a:rPr lang="en-US" sz="2512">
                <a:solidFill>
                  <a:srgbClr val="916542"/>
                </a:solidFill>
                <a:latin typeface="Jet"/>
                <a:ea typeface="Jet"/>
                <a:cs typeface="Jet"/>
                <a:sym typeface="Jet"/>
              </a:rPr>
              <a:t>Beragam metode pembayaran (e-wallet, transfer bank, kartu kredit).</a:t>
            </a:r>
          </a:p>
          <a:p>
            <a:pPr marL="542476" lvl="1" indent="-271238" algn="just">
              <a:lnSpc>
                <a:spcPts val="2512"/>
              </a:lnSpc>
              <a:buAutoNum type="arabicPeriod"/>
            </a:pPr>
            <a:r>
              <a:rPr lang="en-US" sz="2512">
                <a:solidFill>
                  <a:srgbClr val="916542"/>
                </a:solidFill>
                <a:latin typeface="Jet"/>
                <a:ea typeface="Jet"/>
                <a:cs typeface="Jet"/>
                <a:sym typeface="Jet"/>
              </a:rPr>
              <a:t>Riwayat Pemesanan</a:t>
            </a:r>
          </a:p>
          <a:p>
            <a:pPr marL="1084953" lvl="2" indent="-361651" algn="just">
              <a:lnSpc>
                <a:spcPts val="2512"/>
              </a:lnSpc>
              <a:buFont typeface="Arial"/>
              <a:buChar char="⚬"/>
            </a:pPr>
            <a:r>
              <a:rPr lang="en-US" sz="2512">
                <a:solidFill>
                  <a:srgbClr val="916542"/>
                </a:solidFill>
                <a:latin typeface="Jet"/>
                <a:ea typeface="Jet"/>
                <a:cs typeface="Jet"/>
                <a:sym typeface="Jet"/>
              </a:rPr>
              <a:t>Lihat dan kelola pesanan yang sedang berjalan dan yang sudah selesai.</a:t>
            </a:r>
          </a:p>
          <a:p>
            <a:pPr marL="542476" lvl="1" indent="-271238" algn="just">
              <a:lnSpc>
                <a:spcPts val="2512"/>
              </a:lnSpc>
              <a:buAutoNum type="arabicPeriod"/>
            </a:pPr>
            <a:r>
              <a:rPr lang="en-US" sz="2512">
                <a:solidFill>
                  <a:srgbClr val="916542"/>
                </a:solidFill>
                <a:latin typeface="Jet"/>
                <a:ea typeface="Jet"/>
                <a:cs typeface="Jet"/>
                <a:sym typeface="Jet"/>
              </a:rPr>
              <a:t>Ulasan &amp; Rating</a:t>
            </a:r>
          </a:p>
          <a:p>
            <a:pPr marL="1084953" lvl="2" indent="-361651" algn="just">
              <a:lnSpc>
                <a:spcPts val="2512"/>
              </a:lnSpc>
              <a:buFont typeface="Arial"/>
              <a:buChar char="⚬"/>
            </a:pPr>
            <a:r>
              <a:rPr lang="en-US" sz="2512">
                <a:solidFill>
                  <a:srgbClr val="916542"/>
                </a:solidFill>
                <a:latin typeface="Jet"/>
                <a:ea typeface="Jet"/>
                <a:cs typeface="Jet"/>
                <a:sym typeface="Jet"/>
              </a:rPr>
              <a:t>Beri feedback dan penilaian untuk vendor yang digunakan.</a:t>
            </a:r>
          </a:p>
          <a:p>
            <a:pPr marL="542476" lvl="1" indent="-271238" algn="just">
              <a:lnSpc>
                <a:spcPts val="2512"/>
              </a:lnSpc>
              <a:buAutoNum type="arabicPeriod"/>
            </a:pPr>
            <a:r>
              <a:rPr lang="en-US" sz="2512">
                <a:solidFill>
                  <a:srgbClr val="916542"/>
                </a:solidFill>
                <a:latin typeface="Jet"/>
                <a:ea typeface="Jet"/>
                <a:cs typeface="Jet"/>
                <a:sym typeface="Jet"/>
              </a:rPr>
              <a:t>Live Chat / Contact Vendor</a:t>
            </a:r>
          </a:p>
          <a:p>
            <a:pPr marL="1084953" lvl="2" indent="-361651" algn="just">
              <a:lnSpc>
                <a:spcPts val="2512"/>
              </a:lnSpc>
              <a:buFont typeface="Arial"/>
              <a:buChar char="⚬"/>
            </a:pPr>
            <a:r>
              <a:rPr lang="en-US" sz="2512">
                <a:solidFill>
                  <a:srgbClr val="916542"/>
                </a:solidFill>
                <a:latin typeface="Jet"/>
                <a:ea typeface="Jet"/>
                <a:cs typeface="Jet"/>
                <a:sym typeface="Jet"/>
              </a:rPr>
              <a:t>Fasilitas komunikasi langsung dengan vendor atau admin.</a:t>
            </a:r>
          </a:p>
          <a:p>
            <a:pPr marL="542476" lvl="1" indent="-271238" algn="just">
              <a:lnSpc>
                <a:spcPts val="2512"/>
              </a:lnSpc>
              <a:buAutoNum type="arabicPeriod"/>
            </a:pPr>
            <a:r>
              <a:rPr lang="en-US" sz="2512">
                <a:solidFill>
                  <a:srgbClr val="916542"/>
                </a:solidFill>
                <a:latin typeface="Jet"/>
                <a:ea typeface="Jet"/>
                <a:cs typeface="Jet"/>
                <a:sym typeface="Jet"/>
              </a:rPr>
              <a:t>Wishlist / Favorit</a:t>
            </a:r>
          </a:p>
          <a:p>
            <a:pPr marL="1084953" lvl="2" indent="-361651" algn="just">
              <a:lnSpc>
                <a:spcPts val="2512"/>
              </a:lnSpc>
              <a:buFont typeface="Arial"/>
              <a:buChar char="⚬"/>
            </a:pPr>
            <a:r>
              <a:rPr lang="en-US" sz="2512">
                <a:solidFill>
                  <a:srgbClr val="916542"/>
                </a:solidFill>
                <a:latin typeface="Jet"/>
                <a:ea typeface="Jet"/>
                <a:cs typeface="Jet"/>
                <a:sym typeface="Jet"/>
              </a:rPr>
              <a:t>Simpan vendor atau dekorasi favorit untuk dibandingkan nanti.</a:t>
            </a:r>
          </a:p>
          <a:p>
            <a:pPr marL="542476" lvl="1" indent="-271238" algn="just">
              <a:lnSpc>
                <a:spcPts val="2512"/>
              </a:lnSpc>
              <a:buAutoNum type="arabicPeriod"/>
            </a:pPr>
            <a:r>
              <a:rPr lang="en-US" sz="2512">
                <a:solidFill>
                  <a:srgbClr val="916542"/>
                </a:solidFill>
                <a:latin typeface="Jet"/>
                <a:ea typeface="Jet"/>
                <a:cs typeface="Jet"/>
                <a:sym typeface="Jet"/>
              </a:rPr>
              <a:t>Notifikasi &amp; Reminder</a:t>
            </a:r>
          </a:p>
          <a:p>
            <a:pPr marL="542476" lvl="1" indent="-271238" algn="just">
              <a:lnSpc>
                <a:spcPts val="2512"/>
              </a:lnSpc>
              <a:buFont typeface="Arial"/>
              <a:buChar char="•"/>
            </a:pPr>
            <a:r>
              <a:rPr lang="en-US" sz="2512">
                <a:solidFill>
                  <a:srgbClr val="916542"/>
                </a:solidFill>
                <a:latin typeface="Jet"/>
                <a:ea typeface="Jet"/>
                <a:cs typeface="Jet"/>
                <a:sym typeface="Jet"/>
              </a:rPr>
              <a:t>Pengingat untuk pembayaran, jadwal, dan promo eksklusif.</a:t>
            </a:r>
          </a:p>
          <a:p>
            <a:pPr algn="just">
              <a:lnSpc>
                <a:spcPts val="2512"/>
              </a:lnSpc>
            </a:pPr>
            <a:endParaRPr lang="en-US" sz="2512">
              <a:solidFill>
                <a:srgbClr val="916542"/>
              </a:solidFill>
              <a:latin typeface="Jet"/>
              <a:ea typeface="Jet"/>
              <a:cs typeface="Jet"/>
              <a:sym typeface="Je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2145"/>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4835467" y="968726"/>
            <a:ext cx="8617067" cy="627532"/>
          </a:xfrm>
          <a:prstGeom prst="rect">
            <a:avLst/>
          </a:prstGeom>
        </p:spPr>
        <p:txBody>
          <a:bodyPr lIns="0" tIns="0" rIns="0" bIns="0" rtlCol="0" anchor="t">
            <a:spAutoFit/>
          </a:bodyPr>
          <a:lstStyle/>
          <a:p>
            <a:pPr algn="ctr">
              <a:lnSpc>
                <a:spcPts val="4301"/>
              </a:lnSpc>
            </a:pPr>
            <a:r>
              <a:rPr lang="en-US" sz="5514">
                <a:solidFill>
                  <a:srgbClr val="916542"/>
                </a:solidFill>
                <a:latin typeface="Art Nuvo"/>
                <a:ea typeface="Art Nuvo"/>
                <a:cs typeface="Art Nuvo"/>
                <a:sym typeface="Art Nuvo"/>
              </a:rPr>
              <a:t>FLOWCHART </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0" y="-12145"/>
            <a:ext cx="10744200" cy="9929152"/>
          </a:xfrm>
          <a:prstGeom prst="rect">
            <a:avLst/>
          </a:prstGeom>
        </p:spPr>
      </p:pic>
      <p:sp>
        <p:nvSpPr>
          <p:cNvPr id="8" name="Rectangle 7"/>
          <p:cNvSpPr/>
          <p:nvPr/>
        </p:nvSpPr>
        <p:spPr>
          <a:xfrm rot="20499126">
            <a:off x="1232435" y="1252151"/>
            <a:ext cx="4270306" cy="643766"/>
          </a:xfrm>
          <a:prstGeom prst="rect">
            <a:avLst/>
          </a:prstGeom>
        </p:spPr>
        <p:txBody>
          <a:bodyPr wrap="square">
            <a:spAutoFit/>
          </a:bodyPr>
          <a:lstStyle/>
          <a:p>
            <a:pPr algn="ctr">
              <a:lnSpc>
                <a:spcPts val="4301"/>
              </a:lnSpc>
            </a:pPr>
            <a:r>
              <a:rPr lang="en-US" sz="4800" dirty="0" smtClean="0">
                <a:solidFill>
                  <a:srgbClr val="916542"/>
                </a:solidFill>
                <a:latin typeface="Art Nuvo"/>
                <a:ea typeface="Art Nuvo"/>
                <a:cs typeface="Art Nuvo"/>
                <a:sym typeface="Art Nuvo"/>
              </a:rPr>
              <a:t>FLOWCHART</a:t>
            </a:r>
            <a:r>
              <a:rPr lang="en-US" dirty="0" smtClean="0">
                <a:solidFill>
                  <a:srgbClr val="916542"/>
                </a:solidFill>
                <a:latin typeface="Art Nuvo"/>
                <a:ea typeface="Art Nuvo"/>
                <a:cs typeface="Art Nuvo"/>
                <a:sym typeface="Art Nuvo"/>
              </a:rPr>
              <a:t> </a:t>
            </a:r>
            <a:endParaRPr lang="en-US" dirty="0">
              <a:solidFill>
                <a:srgbClr val="916542"/>
              </a:solidFill>
              <a:latin typeface="Art Nuvo"/>
              <a:ea typeface="Art Nuvo"/>
              <a:cs typeface="Art Nuvo"/>
              <a:sym typeface="Art Nuv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83389"/>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4835467" y="968726"/>
            <a:ext cx="8617067" cy="627532"/>
          </a:xfrm>
          <a:prstGeom prst="rect">
            <a:avLst/>
          </a:prstGeom>
        </p:spPr>
        <p:txBody>
          <a:bodyPr lIns="0" tIns="0" rIns="0" bIns="0" rtlCol="0" anchor="t">
            <a:spAutoFit/>
          </a:bodyPr>
          <a:lstStyle/>
          <a:p>
            <a:pPr algn="ctr">
              <a:lnSpc>
                <a:spcPts val="4301"/>
              </a:lnSpc>
            </a:pPr>
            <a:r>
              <a:rPr lang="en-US" sz="5514" dirty="0">
                <a:solidFill>
                  <a:srgbClr val="916542"/>
                </a:solidFill>
                <a:latin typeface="Art Nuvo"/>
                <a:ea typeface="Art Nuvo"/>
                <a:cs typeface="Art Nuvo"/>
                <a:sym typeface="Art Nuvo"/>
              </a:rPr>
              <a:t>FLOWCHART </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5884" y="178924"/>
            <a:ext cx="13981316" cy="9929152"/>
          </a:xfrm>
          <a:prstGeom prst="rect">
            <a:avLst/>
          </a:prstGeom>
        </p:spPr>
      </p:pic>
      <p:sp>
        <p:nvSpPr>
          <p:cNvPr id="8" name="Rectangle 7"/>
          <p:cNvSpPr/>
          <p:nvPr/>
        </p:nvSpPr>
        <p:spPr>
          <a:xfrm rot="20669865">
            <a:off x="261392" y="1216469"/>
            <a:ext cx="3516284" cy="693651"/>
          </a:xfrm>
          <a:prstGeom prst="rect">
            <a:avLst/>
          </a:prstGeom>
        </p:spPr>
        <p:txBody>
          <a:bodyPr wrap="none">
            <a:spAutoFit/>
          </a:bodyPr>
          <a:lstStyle/>
          <a:p>
            <a:pPr algn="ctr">
              <a:lnSpc>
                <a:spcPts val="4301"/>
              </a:lnSpc>
            </a:pPr>
            <a:r>
              <a:rPr lang="en-US" sz="5400" dirty="0">
                <a:solidFill>
                  <a:srgbClr val="916542"/>
                </a:solidFill>
                <a:latin typeface="Art Nuvo"/>
                <a:ea typeface="Art Nuvo"/>
                <a:cs typeface="Art Nuvo"/>
                <a:sym typeface="Art Nuvo"/>
              </a:rPr>
              <a:t>FLOWCHART </a:t>
            </a:r>
            <a:endParaRPr lang="en-US" sz="5400" dirty="0">
              <a:solidFill>
                <a:srgbClr val="916542"/>
              </a:solidFill>
              <a:latin typeface="Art Nuvo"/>
              <a:ea typeface="Art Nuvo"/>
              <a:cs typeface="Art Nuvo"/>
              <a:sym typeface="Art Nuv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4C4"/>
        </a:solidFill>
        <a:effectLst/>
      </p:bgPr>
    </p:bg>
    <p:spTree>
      <p:nvGrpSpPr>
        <p:cNvPr id="1" name=""/>
        <p:cNvGrpSpPr/>
        <p:nvPr/>
      </p:nvGrpSpPr>
      <p:grpSpPr>
        <a:xfrm>
          <a:off x="0" y="0"/>
          <a:ext cx="0" cy="0"/>
          <a:chOff x="0" y="0"/>
          <a:chExt cx="0" cy="0"/>
        </a:xfrm>
      </p:grpSpPr>
      <p:grpSp>
        <p:nvGrpSpPr>
          <p:cNvPr id="2" name="Group 2"/>
          <p:cNvGrpSpPr/>
          <p:nvPr/>
        </p:nvGrpSpPr>
        <p:grpSpPr>
          <a:xfrm>
            <a:off x="216734" y="178924"/>
            <a:ext cx="17854532" cy="9929152"/>
            <a:chOff x="0" y="0"/>
            <a:chExt cx="4702428" cy="2615085"/>
          </a:xfrm>
        </p:grpSpPr>
        <p:sp>
          <p:nvSpPr>
            <p:cNvPr id="3" name="Freeform 3"/>
            <p:cNvSpPr/>
            <p:nvPr/>
          </p:nvSpPr>
          <p:spPr>
            <a:xfrm>
              <a:off x="0" y="0"/>
              <a:ext cx="4702428" cy="2615085"/>
            </a:xfrm>
            <a:custGeom>
              <a:avLst/>
              <a:gdLst/>
              <a:ahLst/>
              <a:cxnLst/>
              <a:rect l="l" t="t" r="r" b="b"/>
              <a:pathLst>
                <a:path w="4702428" h="2615085">
                  <a:moveTo>
                    <a:pt x="0" y="0"/>
                  </a:moveTo>
                  <a:lnTo>
                    <a:pt x="4702428" y="0"/>
                  </a:lnTo>
                  <a:lnTo>
                    <a:pt x="4702428" y="2615085"/>
                  </a:lnTo>
                  <a:lnTo>
                    <a:pt x="0" y="2615085"/>
                  </a:lnTo>
                  <a:close/>
                </a:path>
              </a:pathLst>
            </a:custGeom>
            <a:solidFill>
              <a:srgbClr val="000000">
                <a:alpha val="0"/>
              </a:srgbClr>
            </a:solidFill>
            <a:ln w="38100" cap="sq">
              <a:solidFill>
                <a:srgbClr val="916542"/>
              </a:solidFill>
              <a:prstDash val="solid"/>
              <a:miter/>
            </a:ln>
          </p:spPr>
        </p:sp>
        <p:sp>
          <p:nvSpPr>
            <p:cNvPr id="4" name="TextBox 4"/>
            <p:cNvSpPr txBox="1"/>
            <p:nvPr/>
          </p:nvSpPr>
          <p:spPr>
            <a:xfrm>
              <a:off x="0" y="-38100"/>
              <a:ext cx="4702428" cy="265318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486400" y="506469"/>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486400" y="9523370"/>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490819" y="6254385"/>
            <a:ext cx="3535389" cy="3548292"/>
          </a:xfrm>
          <a:custGeom>
            <a:avLst/>
            <a:gdLst/>
            <a:ahLst/>
            <a:cxnLst/>
            <a:rect l="l" t="t" r="r" b="b"/>
            <a:pathLst>
              <a:path w="3535389" h="3548292">
                <a:moveTo>
                  <a:pt x="0" y="0"/>
                </a:moveTo>
                <a:lnTo>
                  <a:pt x="3535388" y="0"/>
                </a:lnTo>
                <a:lnTo>
                  <a:pt x="3535388" y="3548291"/>
                </a:lnTo>
                <a:lnTo>
                  <a:pt x="0" y="35482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Freeform 8"/>
          <p:cNvSpPr/>
          <p:nvPr/>
        </p:nvSpPr>
        <p:spPr>
          <a:xfrm flipV="1">
            <a:off x="490819" y="484324"/>
            <a:ext cx="3535389" cy="3548292"/>
          </a:xfrm>
          <a:custGeom>
            <a:avLst/>
            <a:gdLst/>
            <a:ahLst/>
            <a:cxnLst/>
            <a:rect l="l" t="t" r="r" b="b"/>
            <a:pathLst>
              <a:path w="3535389" h="3548292">
                <a:moveTo>
                  <a:pt x="0" y="3548291"/>
                </a:moveTo>
                <a:lnTo>
                  <a:pt x="3535388" y="3548291"/>
                </a:lnTo>
                <a:lnTo>
                  <a:pt x="3535388" y="0"/>
                </a:lnTo>
                <a:lnTo>
                  <a:pt x="0" y="0"/>
                </a:lnTo>
                <a:lnTo>
                  <a:pt x="0"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flipH="1" flipV="1">
            <a:off x="14264632" y="506469"/>
            <a:ext cx="3535389" cy="3548292"/>
          </a:xfrm>
          <a:custGeom>
            <a:avLst/>
            <a:gdLst/>
            <a:ahLst/>
            <a:cxnLst/>
            <a:rect l="l" t="t" r="r" b="b"/>
            <a:pathLst>
              <a:path w="3535389" h="3548292">
                <a:moveTo>
                  <a:pt x="3535389" y="3548291"/>
                </a:moveTo>
                <a:lnTo>
                  <a:pt x="0" y="3548291"/>
                </a:lnTo>
                <a:lnTo>
                  <a:pt x="0" y="0"/>
                </a:lnTo>
                <a:lnTo>
                  <a:pt x="3535389" y="0"/>
                </a:lnTo>
                <a:lnTo>
                  <a:pt x="3535389" y="3548291"/>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flipH="1">
            <a:off x="14264632" y="6254385"/>
            <a:ext cx="3535389" cy="3548292"/>
          </a:xfrm>
          <a:custGeom>
            <a:avLst/>
            <a:gdLst/>
            <a:ahLst/>
            <a:cxnLst/>
            <a:rect l="l" t="t" r="r" b="b"/>
            <a:pathLst>
              <a:path w="3535389" h="3548292">
                <a:moveTo>
                  <a:pt x="3535389" y="0"/>
                </a:moveTo>
                <a:lnTo>
                  <a:pt x="0" y="0"/>
                </a:lnTo>
                <a:lnTo>
                  <a:pt x="0" y="3548291"/>
                </a:lnTo>
                <a:lnTo>
                  <a:pt x="3535389" y="3548291"/>
                </a:lnTo>
                <a:lnTo>
                  <a:pt x="3535389"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TextBox 11"/>
          <p:cNvSpPr txBox="1"/>
          <p:nvPr/>
        </p:nvSpPr>
        <p:spPr>
          <a:xfrm>
            <a:off x="4385318" y="3538664"/>
            <a:ext cx="9517365" cy="3952623"/>
          </a:xfrm>
          <a:prstGeom prst="rect">
            <a:avLst/>
          </a:prstGeom>
        </p:spPr>
        <p:txBody>
          <a:bodyPr lIns="0" tIns="0" rIns="0" bIns="0" rtlCol="0" anchor="t">
            <a:spAutoFit/>
          </a:bodyPr>
          <a:lstStyle/>
          <a:p>
            <a:pPr algn="ctr">
              <a:lnSpc>
                <a:spcPts val="14621"/>
              </a:lnSpc>
            </a:pPr>
            <a:r>
              <a:rPr lang="en-US" sz="18745">
                <a:solidFill>
                  <a:srgbClr val="916542"/>
                </a:solidFill>
                <a:latin typeface="Art Nuvo"/>
                <a:ea typeface="Art Nuvo"/>
                <a:cs typeface="Art Nuvo"/>
                <a:sym typeface="Art Nuvo"/>
              </a:rPr>
              <a:t>THANK</a:t>
            </a:r>
          </a:p>
          <a:p>
            <a:pPr algn="ctr">
              <a:lnSpc>
                <a:spcPts val="14621"/>
              </a:lnSpc>
            </a:pPr>
            <a:r>
              <a:rPr lang="en-US" sz="18745">
                <a:solidFill>
                  <a:srgbClr val="916542"/>
                </a:solidFill>
                <a:latin typeface="Art Nuvo"/>
                <a:ea typeface="Art Nuvo"/>
                <a:cs typeface="Art Nuvo"/>
                <a:sym typeface="Art Nuvo"/>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836</Words>
  <Application>Microsoft Office PowerPoint</Application>
  <PresentationFormat>Custom</PresentationFormat>
  <Paragraphs>119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Art Nuvo</vt:lpstr>
      <vt:lpstr>Arial</vt:lpstr>
      <vt:lpstr>Calibri</vt:lpstr>
      <vt:lpstr>Jet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Brown Vintage Classic Group Project Presentation</dc:title>
  <dc:creator>USER</dc:creator>
  <cp:lastModifiedBy>Microsoft account</cp:lastModifiedBy>
  <cp:revision>2</cp:revision>
  <dcterms:created xsi:type="dcterms:W3CDTF">2006-08-16T00:00:00Z</dcterms:created>
  <dcterms:modified xsi:type="dcterms:W3CDTF">2025-04-23T12:54:58Z</dcterms:modified>
  <dc:identifier>DAGlcHgPCmw</dc:identifier>
</cp:coreProperties>
</file>